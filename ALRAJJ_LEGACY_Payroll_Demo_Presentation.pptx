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7577E-42CA-E34F-CA76-80EDF8B480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3EAED4-61EA-F597-8091-338DF05D00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1C64A-D7D5-7C2C-6478-F2F4EC93A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DA628-8D64-4EDE-A986-760E78C72F76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1FCCD-0E9E-2465-14F0-7B9A06E7F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D72BF-E3AE-08B5-BF57-0057FFBD1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BC162-5E59-493F-B0A3-6CDD71436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691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1F9C9-6829-CE03-C5E2-A99914300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90B3D-8785-37B1-02D8-0510F617C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F9F59-5B3F-6178-5426-7FFD14895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DA628-8D64-4EDE-A986-760E78C72F76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B2C533-1E6E-3AAF-29AA-1EC9EE357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2B617-B23B-493D-8AD2-0F7F23FC2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BC162-5E59-493F-B0A3-6CDD71436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97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BE044-A4DD-0C5D-9469-49CF25D6C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E8BC26-F30B-8A5F-27C6-080424C60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71A02-3852-80A4-38B6-8EB47D26A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DA628-8D64-4EDE-A986-760E78C72F76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04DE3-AC65-7E89-FA55-06E489BD6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DC8F69-6FCC-EF60-0585-08A0BB51D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BC162-5E59-493F-B0A3-6CDD71436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065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9B23F-3504-0412-43B2-9FEAF008C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42A3F-A76B-2AC0-4845-C90DC8F18F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4A6967-28BC-6C08-9DC2-8A7150C4E3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48D2A1-8488-7892-D55F-CF48B6650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DA628-8D64-4EDE-A986-760E78C72F76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98D936-ED82-52BB-259E-C2E280B9A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D33CEA-96EB-A02A-F62C-4DF6A5E85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BC162-5E59-493F-B0A3-6CDD71436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842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5D0F8-BB08-538A-85F8-B6C707F5A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BD7530-C00C-3B48-C1C6-B93B1A215E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68197D-5117-3F1D-C06B-19A0526E0D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FA39F5-ADE8-01D0-B578-5A3342B500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30FDFD-FD7D-0EF8-82C0-4CE3190E61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A9EC34-8401-B86D-ABE3-96F0A522B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DA628-8D64-4EDE-A986-760E78C72F76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C81AC5-526C-2B32-7520-CC27823E8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D63415-2252-6320-AAC8-6DBBA4068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BC162-5E59-493F-B0A3-6CDD71436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947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77F80-3C96-268F-3047-7D8FBD89A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118E44-7167-2A50-AEDC-DF73FF374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DA628-8D64-4EDE-A986-760E78C72F76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1B24CB-07F0-8762-2D89-3338576B6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E95366-33E1-AB51-60FC-724A0F1B7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BC162-5E59-493F-B0A3-6CDD71436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399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E688D0-71AC-C069-84C3-0884415E8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DA628-8D64-4EDE-A986-760E78C72F76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74E09-6F86-405F-C957-485183C51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36B9F1-F388-A094-5BC1-9E9A32EA6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BC162-5E59-493F-B0A3-6CDD71436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971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3B5CA-3283-279C-08CE-5B4549BDE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8D255-DEE2-223E-7878-EA473082B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560878-F4F0-DF59-B678-76AC0AE2A6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45EDDC-1EE3-691E-6D8B-0706E3EA7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DA628-8D64-4EDE-A986-760E78C72F76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720E7E-28DD-E811-7DE1-DC199A46B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4CE45-A159-88B5-BAB9-B4A315904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BC162-5E59-493F-B0A3-6CDD71436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563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19C43-A78C-2E17-3273-7A65FCD92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C782F6-7145-A427-2C0A-FD00AC21CA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6253F1-F5E2-7737-A47C-C8D156D9DC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8D8BC8-101D-FC22-9889-894EC8833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DA628-8D64-4EDE-A986-760E78C72F76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17D2D8-60F3-75EB-C1E4-0396A9E7A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A2372A-8D9A-3937-8DAF-3EBDEF44D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BC162-5E59-493F-B0A3-6CDD71436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60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90F62-6147-9CB3-A361-FF03680E0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444B08-D137-FFAA-B819-089267B96C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9ADB7-FA12-8728-931A-77781FC82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DA628-8D64-4EDE-A986-760E78C72F76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8CEF3-E526-60D1-8A88-38CC0BF08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EC5730-950B-2874-E0BA-AFA7D95EA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BC162-5E59-493F-B0A3-6CDD71436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819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58D354-43C3-2A0F-2E1E-1A71066E38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5EED9B-D790-FB79-910F-FA0A93E32E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4638E-F9CC-FDEE-82FD-DE52A1D34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DA628-8D64-4EDE-A986-760E78C72F76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7EBC5-8EA5-312E-3109-A7A040715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75CEF-0C72-6957-0151-58B850441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BC162-5E59-493F-B0A3-6CDD71436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076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ED9E3D-14A0-8504-4819-1371521D6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E85FB-D470-2B2E-0438-4B1D1B0C0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13DD4-1872-BFA4-F183-B3EA26B8BD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BDA628-8D64-4EDE-A986-760E78C72F76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ECE2D-456D-2800-BA73-E42D588B19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0FDB5-E7DE-8AC1-C54F-E333E30C03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1BC162-5E59-493F-B0A3-6CDD71436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180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A5AAAFA-E2FF-B196-E22C-E7A2E6D0D3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11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D972C0-0E92-FDA9-10BC-7E82ABF34C88}"/>
              </a:ext>
            </a:extLst>
          </p:cNvPr>
          <p:cNvSpPr/>
          <p:nvPr/>
        </p:nvSpPr>
        <p:spPr>
          <a:xfrm>
            <a:off x="889000" y="1397000"/>
            <a:ext cx="101600" cy="3810000"/>
          </a:xfrm>
          <a:prstGeom prst="rect">
            <a:avLst/>
          </a:prstGeom>
          <a:solidFill>
            <a:srgbClr val="D4AF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3D6501-91D8-D42C-20DD-203DE7C8815E}"/>
              </a:ext>
            </a:extLst>
          </p:cNvPr>
          <p:cNvSpPr txBox="1"/>
          <p:nvPr/>
        </p:nvSpPr>
        <p:spPr>
          <a:xfrm>
            <a:off x="1270000" y="1270000"/>
            <a:ext cx="10033000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4400" b="1">
                <a:solidFill>
                  <a:srgbClr val="D4AF37"/>
                </a:solidFill>
                <a:latin typeface="Arial" panose="020B0604020202020204" pitchFamily="34" charset="0"/>
              </a:rPr>
              <a:t>ALRAJJ LEGACY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018E29-8E7D-EAAA-97ED-8FE2106C3942}"/>
              </a:ext>
            </a:extLst>
          </p:cNvPr>
          <p:cNvSpPr txBox="1"/>
          <p:nvPr/>
        </p:nvSpPr>
        <p:spPr>
          <a:xfrm>
            <a:off x="1270000" y="2159000"/>
            <a:ext cx="10033000" cy="7078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Arial" panose="020B0604020202020204" pitchFamily="34" charset="0"/>
              </a:rPr>
              <a:t>Smart Biometric Attendance, BPI Payroll &amp; Enterprise Solutions</a:t>
            </a:r>
          </a:p>
          <a:p>
            <a:r>
              <a:rPr lang="en-US" sz="2000" b="1">
                <a:solidFill>
                  <a:srgbClr val="FFFFFF"/>
                </a:solidFill>
                <a:latin typeface="Arial" panose="020B0604020202020204" pitchFamily="34" charset="0"/>
              </a:rPr>
              <a:t>Executive Demonstration for Salon Leadership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B9B0EA-3FA4-91BA-E69B-05DC682F4E06}"/>
              </a:ext>
            </a:extLst>
          </p:cNvPr>
          <p:cNvSpPr txBox="1"/>
          <p:nvPr/>
        </p:nvSpPr>
        <p:spPr>
          <a:xfrm>
            <a:off x="1270000" y="3429000"/>
            <a:ext cx="10033000" cy="89255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D2D2D2"/>
                </a:solidFill>
                <a:latin typeface="Arial" panose="020B0604020202020204" pitchFamily="34" charset="0"/>
              </a:rPr>
              <a:t>Target Deployment: Centrio (Waxing &amp; Nails), Ketkai, SM Downtown</a:t>
            </a:r>
          </a:p>
          <a:p>
            <a:r>
              <a:rPr lang="en-US" sz="1300">
                <a:solidFill>
                  <a:srgbClr val="D2D2D2"/>
                </a:solidFill>
                <a:latin typeface="Arial" panose="020B0604020202020204" pitchFamily="34" charset="0"/>
              </a:rPr>
              <a:t>Live Application URL: https://alrajj-legacy.vercel.app</a:t>
            </a:r>
          </a:p>
          <a:p>
            <a:r>
              <a:rPr lang="en-US" sz="1300">
                <a:solidFill>
                  <a:srgbClr val="D2D2D2"/>
                </a:solidFill>
                <a:latin typeface="Arial" panose="020B0604020202020204" pitchFamily="34" charset="0"/>
              </a:rPr>
              <a:t>Prepared for: Ms. Jehan Abedin, General Manager</a:t>
            </a:r>
          </a:p>
          <a:p>
            <a:r>
              <a:rPr lang="en-US" sz="1300">
                <a:solidFill>
                  <a:srgbClr val="D2D2D2"/>
                </a:solidFill>
                <a:latin typeface="Arial" panose="020B0604020202020204" pitchFamily="34" charset="0"/>
              </a:rPr>
              <a:t>Presented by: Jason Velasquez (VP) &amp; SETHCON Technologies Inc.</a:t>
            </a:r>
          </a:p>
        </p:txBody>
      </p:sp>
    </p:spTree>
    <p:extLst>
      <p:ext uri="{BB962C8B-B14F-4D97-AF65-F5344CB8AC3E}">
        <p14:creationId xmlns:p14="http://schemas.microsoft.com/office/powerpoint/2010/main" val="1602243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E973771-0CD2-FC1F-EF1C-8DCA993A530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4C9E00-38D6-0460-66B0-14B556EF5F76}"/>
              </a:ext>
            </a:extLst>
          </p:cNvPr>
          <p:cNvSpPr txBox="1"/>
          <p:nvPr/>
        </p:nvSpPr>
        <p:spPr>
          <a:xfrm>
            <a:off x="635000" y="444500"/>
            <a:ext cx="10922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031134"/>
                </a:solidFill>
                <a:latin typeface="Arial" panose="020B0604020202020204" pitchFamily="34" charset="0"/>
              </a:rPr>
              <a:t>Technology Partner Profile: SETHCON Technologies Inc.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A87F8B-5854-C885-EB22-BDECBF3FA489}"/>
              </a:ext>
            </a:extLst>
          </p:cNvPr>
          <p:cNvSpPr txBox="1"/>
          <p:nvPr/>
        </p:nvSpPr>
        <p:spPr>
          <a:xfrm>
            <a:off x="635000" y="952500"/>
            <a:ext cx="10922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1E293B"/>
                </a:solidFill>
                <a:latin typeface="Arial" panose="020B0604020202020204" pitchFamily="34" charset="0"/>
              </a:rPr>
              <a:t>End-to-End Solutions for Retail, Salons &amp; Multi-Branch Enterprise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B0F38B-9EA9-5569-6C45-9BE1A142E5BB}"/>
              </a:ext>
            </a:extLst>
          </p:cNvPr>
          <p:cNvSpPr/>
          <p:nvPr/>
        </p:nvSpPr>
        <p:spPr>
          <a:xfrm>
            <a:off x="635000" y="1397000"/>
            <a:ext cx="2540000" cy="4699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C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410AF2-B614-EFE3-5F5F-28297675438A}"/>
              </a:ext>
            </a:extLst>
          </p:cNvPr>
          <p:cNvSpPr txBox="1"/>
          <p:nvPr/>
        </p:nvSpPr>
        <p:spPr>
          <a:xfrm>
            <a:off x="762000" y="1524000"/>
            <a:ext cx="2286000" cy="230832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1E293B"/>
                </a:solidFill>
                <a:latin typeface="Arial" panose="020B0604020202020204" pitchFamily="34" charset="0"/>
              </a:rPr>
              <a:t>COMPANY PROFILE</a:t>
            </a:r>
          </a:p>
          <a:p>
            <a:endParaRPr lang="en-US" sz="1200">
              <a:solidFill>
                <a:srgbClr val="1E293B"/>
              </a:solidFill>
              <a:latin typeface="Arial" panose="020B0604020202020204" pitchFamily="34" charset="0"/>
            </a:endParaRPr>
          </a:p>
          <a:p>
            <a:r>
              <a:rPr lang="en-US" sz="1200">
                <a:solidFill>
                  <a:srgbClr val="1E293B"/>
                </a:solidFill>
                <a:latin typeface="Arial" panose="020B0604020202020204" pitchFamily="34" charset="0"/>
              </a:rPr>
              <a:t>* Systems Engineering &amp; Enterprise Software</a:t>
            </a:r>
          </a:p>
          <a:p>
            <a:endParaRPr lang="en-US" sz="1200">
              <a:solidFill>
                <a:srgbClr val="1E293B"/>
              </a:solidFill>
              <a:latin typeface="Arial" panose="020B0604020202020204" pitchFamily="34" charset="0"/>
            </a:endParaRPr>
          </a:p>
          <a:p>
            <a:r>
              <a:rPr lang="en-US" sz="1200">
                <a:solidFill>
                  <a:srgbClr val="1E293B"/>
                </a:solidFill>
                <a:latin typeface="Arial" panose="020B0604020202020204" pitchFamily="34" charset="0"/>
              </a:rPr>
              <a:t>* Specializes in multi-branch retail, salon chains, and ERP workflows.</a:t>
            </a:r>
          </a:p>
          <a:p>
            <a:endParaRPr lang="en-US" sz="1200">
              <a:solidFill>
                <a:srgbClr val="1E293B"/>
              </a:solidFill>
              <a:latin typeface="Arial" panose="020B0604020202020204" pitchFamily="34" charset="0"/>
            </a:endParaRPr>
          </a:p>
          <a:p>
            <a:r>
              <a:rPr lang="en-US" sz="1200">
                <a:solidFill>
                  <a:srgbClr val="1E293B"/>
                </a:solidFill>
                <a:latin typeface="Arial" panose="020B0604020202020204" pitchFamily="34" charset="0"/>
              </a:rPr>
              <a:t>* Proven Partner: Lay Bare Salon network &amp; corporate retail.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288E8A-E724-7FBD-E402-5B3E67508C49}"/>
              </a:ext>
            </a:extLst>
          </p:cNvPr>
          <p:cNvSpPr/>
          <p:nvPr/>
        </p:nvSpPr>
        <p:spPr>
          <a:xfrm>
            <a:off x="3365500" y="1397000"/>
            <a:ext cx="2540000" cy="4699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C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95F833-0182-188D-0A4E-9BF5D58F410F}"/>
              </a:ext>
            </a:extLst>
          </p:cNvPr>
          <p:cNvSpPr txBox="1"/>
          <p:nvPr/>
        </p:nvSpPr>
        <p:spPr>
          <a:xfrm>
            <a:off x="3492500" y="1524000"/>
            <a:ext cx="2286000" cy="249299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1E293B"/>
                </a:solidFill>
                <a:latin typeface="Arial" panose="020B0604020202020204" pitchFamily="34" charset="0"/>
              </a:rPr>
              <a:t>SALON CRM &amp; LOYALTY</a:t>
            </a:r>
          </a:p>
          <a:p>
            <a:endParaRPr lang="en-US" sz="1200">
              <a:solidFill>
                <a:srgbClr val="1E293B"/>
              </a:solidFill>
              <a:latin typeface="Arial" panose="020B0604020202020204" pitchFamily="34" charset="0"/>
            </a:endParaRPr>
          </a:p>
          <a:p>
            <a:r>
              <a:rPr lang="en-US" sz="1200">
                <a:solidFill>
                  <a:srgbClr val="1E293B"/>
                </a:solidFill>
                <a:latin typeface="Arial" panose="020B0604020202020204" pitchFamily="34" charset="0"/>
              </a:rPr>
              <a:t>* Complete Customer History &amp; technician notes.</a:t>
            </a:r>
          </a:p>
          <a:p>
            <a:endParaRPr lang="en-US" sz="1200">
              <a:solidFill>
                <a:srgbClr val="1E293B"/>
              </a:solidFill>
              <a:latin typeface="Arial" panose="020B0604020202020204" pitchFamily="34" charset="0"/>
            </a:endParaRPr>
          </a:p>
          <a:p>
            <a:r>
              <a:rPr lang="en-US" sz="1200">
                <a:solidFill>
                  <a:srgbClr val="1E293B"/>
                </a:solidFill>
                <a:latin typeface="Arial" panose="020B0604020202020204" pitchFamily="34" charset="0"/>
              </a:rPr>
              <a:t>* Online Booking &amp; SMS confirmations.</a:t>
            </a:r>
          </a:p>
          <a:p>
            <a:endParaRPr lang="en-US" sz="1200">
              <a:solidFill>
                <a:srgbClr val="1E293B"/>
              </a:solidFill>
              <a:latin typeface="Arial" panose="020B0604020202020204" pitchFamily="34" charset="0"/>
            </a:endParaRPr>
          </a:p>
          <a:p>
            <a:r>
              <a:rPr lang="en-US" sz="1200">
                <a:solidFill>
                  <a:srgbClr val="1E293B"/>
                </a:solidFill>
                <a:latin typeface="Arial" panose="020B0604020202020204" pitchFamily="34" charset="0"/>
              </a:rPr>
              <a:t>* Loyalty packages &amp; multi-branch redemptions.</a:t>
            </a:r>
          </a:p>
          <a:p>
            <a:endParaRPr lang="en-US" sz="1200">
              <a:solidFill>
                <a:srgbClr val="1E293B"/>
              </a:solidFill>
              <a:latin typeface="Arial" panose="020B0604020202020204" pitchFamily="34" charset="0"/>
            </a:endParaRPr>
          </a:p>
          <a:p>
            <a:r>
              <a:rPr lang="en-US" sz="1200">
                <a:solidFill>
                  <a:srgbClr val="1E293B"/>
                </a:solidFill>
                <a:latin typeface="Arial" panose="020B0604020202020204" pitchFamily="34" charset="0"/>
              </a:rPr>
              <a:t>* Technician commission tracking.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A01BAC-3A83-B757-DA39-4F9F632A4512}"/>
              </a:ext>
            </a:extLst>
          </p:cNvPr>
          <p:cNvSpPr/>
          <p:nvPr/>
        </p:nvSpPr>
        <p:spPr>
          <a:xfrm>
            <a:off x="6096000" y="1397000"/>
            <a:ext cx="2730500" cy="4699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C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B083E8-9D8E-ACCC-2C42-68E2CB8CB3B3}"/>
              </a:ext>
            </a:extLst>
          </p:cNvPr>
          <p:cNvSpPr txBox="1"/>
          <p:nvPr/>
        </p:nvSpPr>
        <p:spPr>
          <a:xfrm>
            <a:off x="6223000" y="1524000"/>
            <a:ext cx="2476500" cy="17543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1E293B"/>
                </a:solidFill>
                <a:latin typeface="Arial" panose="020B0604020202020204" pitchFamily="34" charset="0"/>
              </a:rPr>
              <a:t>PO TO ACCOUNTING</a:t>
            </a:r>
          </a:p>
          <a:p>
            <a:endParaRPr lang="en-US" sz="1200">
              <a:solidFill>
                <a:srgbClr val="1E293B"/>
              </a:solidFill>
              <a:latin typeface="Arial" panose="020B0604020202020204" pitchFamily="34" charset="0"/>
            </a:endParaRPr>
          </a:p>
          <a:p>
            <a:r>
              <a:rPr lang="en-US" sz="1200">
                <a:solidFill>
                  <a:srgbClr val="1E293B"/>
                </a:solidFill>
                <a:latin typeface="Arial" panose="020B0604020202020204" pitchFamily="34" charset="0"/>
              </a:rPr>
              <a:t>* 5-Step Procurement:</a:t>
            </a:r>
          </a:p>
          <a:p>
            <a:r>
              <a:rPr lang="en-US" sz="1200">
                <a:solidFill>
                  <a:srgbClr val="1E293B"/>
                </a:solidFill>
                <a:latin typeface="Arial" panose="020B0604020202020204" pitchFamily="34" charset="0"/>
              </a:rPr>
              <a:t>  1. Store Requisition</a:t>
            </a:r>
          </a:p>
          <a:p>
            <a:r>
              <a:rPr lang="en-US" sz="1200">
                <a:solidFill>
                  <a:srgbClr val="1E293B"/>
                </a:solidFill>
                <a:latin typeface="Arial" panose="020B0604020202020204" pitchFamily="34" charset="0"/>
              </a:rPr>
              <a:t>  2. Vendor RFQ / Quotes</a:t>
            </a:r>
          </a:p>
          <a:p>
            <a:r>
              <a:rPr lang="en-US" sz="1200">
                <a:solidFill>
                  <a:srgbClr val="1E293B"/>
                </a:solidFill>
                <a:latin typeface="Arial" panose="020B0604020202020204" pitchFamily="34" charset="0"/>
              </a:rPr>
              <a:t>  3. PO Approval</a:t>
            </a:r>
          </a:p>
          <a:p>
            <a:r>
              <a:rPr lang="en-US" sz="1200">
                <a:solidFill>
                  <a:srgbClr val="1E293B"/>
                </a:solidFill>
                <a:latin typeface="Arial" panose="020B0604020202020204" pitchFamily="34" charset="0"/>
              </a:rPr>
              <a:t>  4. Goods Receiving</a:t>
            </a:r>
          </a:p>
          <a:p>
            <a:r>
              <a:rPr lang="en-US" sz="1200">
                <a:solidFill>
                  <a:srgbClr val="1E293B"/>
                </a:solidFill>
                <a:latin typeface="Arial" panose="020B0604020202020204" pitchFamily="34" charset="0"/>
              </a:rPr>
              <a:t>  5. 3-Way Match directly to Accounting AP &amp; Ledger.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480023-FD48-D076-6251-1D98B05B5243}"/>
              </a:ext>
            </a:extLst>
          </p:cNvPr>
          <p:cNvSpPr/>
          <p:nvPr/>
        </p:nvSpPr>
        <p:spPr>
          <a:xfrm>
            <a:off x="9017000" y="1397000"/>
            <a:ext cx="2540000" cy="4699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C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D80209-A62F-391A-C3DD-559DD20D67DE}"/>
              </a:ext>
            </a:extLst>
          </p:cNvPr>
          <p:cNvSpPr txBox="1"/>
          <p:nvPr/>
        </p:nvSpPr>
        <p:spPr>
          <a:xfrm>
            <a:off x="9144000" y="1524000"/>
            <a:ext cx="2286000" cy="230832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1E293B"/>
                </a:solidFill>
                <a:latin typeface="Arial" panose="020B0604020202020204" pitchFamily="34" charset="0"/>
              </a:rPr>
              <a:t>POS &amp; INVENTORY</a:t>
            </a:r>
          </a:p>
          <a:p>
            <a:endParaRPr lang="en-US" sz="1200">
              <a:solidFill>
                <a:srgbClr val="1E293B"/>
              </a:solidFill>
              <a:latin typeface="Arial" panose="020B0604020202020204" pitchFamily="34" charset="0"/>
            </a:endParaRPr>
          </a:p>
          <a:p>
            <a:r>
              <a:rPr lang="en-US" sz="1200">
                <a:solidFill>
                  <a:srgbClr val="1E293B"/>
                </a:solidFill>
                <a:latin typeface="Arial" panose="020B0604020202020204" pitchFamily="34" charset="0"/>
              </a:rPr>
              <a:t>* Live multi-branch revenue tracking.</a:t>
            </a:r>
          </a:p>
          <a:p>
            <a:endParaRPr lang="en-US" sz="1200">
              <a:solidFill>
                <a:srgbClr val="1E293B"/>
              </a:solidFill>
              <a:latin typeface="Arial" panose="020B0604020202020204" pitchFamily="34" charset="0"/>
            </a:endParaRPr>
          </a:p>
          <a:p>
            <a:r>
              <a:rPr lang="en-US" sz="1200">
                <a:solidFill>
                  <a:srgbClr val="1E293B"/>
                </a:solidFill>
                <a:latin typeface="Arial" panose="020B0604020202020204" pitchFamily="34" charset="0"/>
              </a:rPr>
              <a:t>* Stock depletion &amp; automatic reorder alerts.</a:t>
            </a:r>
          </a:p>
          <a:p>
            <a:endParaRPr lang="en-US" sz="1200">
              <a:solidFill>
                <a:srgbClr val="1E293B"/>
              </a:solidFill>
              <a:latin typeface="Arial" panose="020B0604020202020204" pitchFamily="34" charset="0"/>
            </a:endParaRPr>
          </a:p>
          <a:p>
            <a:r>
              <a:rPr lang="en-US" sz="1200">
                <a:solidFill>
                  <a:srgbClr val="1E293B"/>
                </a:solidFill>
                <a:latin typeface="Arial" panose="020B0604020202020204" pitchFamily="34" charset="0"/>
              </a:rPr>
              <a:t>* Centralized price &amp; service catalog.</a:t>
            </a:r>
          </a:p>
          <a:p>
            <a:endParaRPr lang="en-US" sz="1200">
              <a:solidFill>
                <a:srgbClr val="1E293B"/>
              </a:solidFill>
              <a:latin typeface="Arial" panose="020B0604020202020204" pitchFamily="34" charset="0"/>
            </a:endParaRPr>
          </a:p>
          <a:p>
            <a:r>
              <a:rPr lang="en-US" sz="1200">
                <a:solidFill>
                  <a:srgbClr val="1E293B"/>
                </a:solidFill>
                <a:latin typeface="Arial" panose="020B0604020202020204" pitchFamily="34" charset="0"/>
              </a:rPr>
              <a:t>* Shrinkage &amp; loss prevention.</a:t>
            </a:r>
          </a:p>
        </p:txBody>
      </p:sp>
    </p:spTree>
    <p:extLst>
      <p:ext uri="{BB962C8B-B14F-4D97-AF65-F5344CB8AC3E}">
        <p14:creationId xmlns:p14="http://schemas.microsoft.com/office/powerpoint/2010/main" val="553865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D3963EC-9F32-F760-CD38-72116F9BB01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38986A-FC28-D7A0-23D6-3C0D4675FBD6}"/>
              </a:ext>
            </a:extLst>
          </p:cNvPr>
          <p:cNvSpPr txBox="1"/>
          <p:nvPr/>
        </p:nvSpPr>
        <p:spPr>
          <a:xfrm>
            <a:off x="635000" y="508000"/>
            <a:ext cx="10922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500" b="1">
                <a:solidFill>
                  <a:srgbClr val="031134"/>
                </a:solidFill>
                <a:latin typeface="Arial" panose="020B0604020202020204" pitchFamily="34" charset="0"/>
              </a:rPr>
              <a:t>The Current Reality: The 2-Day Payroll Bottleneck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F81D3E-DB74-155A-2C1F-CDE65C2A3737}"/>
              </a:ext>
            </a:extLst>
          </p:cNvPr>
          <p:cNvSpPr/>
          <p:nvPr/>
        </p:nvSpPr>
        <p:spPr>
          <a:xfrm>
            <a:off x="635000" y="1397000"/>
            <a:ext cx="342900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C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3ADFF9-4F5F-09BD-5DEB-7E8052DCBEF0}"/>
              </a:ext>
            </a:extLst>
          </p:cNvPr>
          <p:cNvSpPr txBox="1"/>
          <p:nvPr/>
        </p:nvSpPr>
        <p:spPr>
          <a:xfrm>
            <a:off x="825500" y="1587500"/>
            <a:ext cx="3048000" cy="229293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1E293B"/>
                </a:solidFill>
                <a:latin typeface="Arial" panose="020B0604020202020204" pitchFamily="34" charset="0"/>
              </a:rPr>
              <a:t>TIME CONSUMING</a:t>
            </a:r>
          </a:p>
          <a:p>
            <a:endParaRPr lang="en-US" sz="1300">
              <a:solidFill>
                <a:srgbClr val="1E293B"/>
              </a:solidFill>
              <a:latin typeface="Arial" panose="020B0604020202020204" pitchFamily="34" charset="0"/>
            </a:endParaRPr>
          </a:p>
          <a:p>
            <a:r>
              <a:rPr lang="en-US" sz="1300">
                <a:solidFill>
                  <a:srgbClr val="1E293B"/>
                </a:solidFill>
                <a:latin typeface="Arial" panose="020B0604020202020204" pitchFamily="34" charset="0"/>
              </a:rPr>
              <a:t>* Takes 2 whole working days per cutoff to compute hours by hand.</a:t>
            </a:r>
          </a:p>
          <a:p>
            <a:endParaRPr lang="en-US" sz="1300">
              <a:solidFill>
                <a:srgbClr val="1E293B"/>
              </a:solidFill>
              <a:latin typeface="Arial" panose="020B0604020202020204" pitchFamily="34" charset="0"/>
            </a:endParaRPr>
          </a:p>
          <a:p>
            <a:r>
              <a:rPr lang="en-US" sz="1300">
                <a:solidFill>
                  <a:srgbClr val="1E293B"/>
                </a:solidFill>
                <a:latin typeface="Arial" panose="020B0604020202020204" pitchFamily="34" charset="0"/>
              </a:rPr>
              <a:t>* HR spends 16+ hours per month cross-referencing raw timesheets.</a:t>
            </a:r>
          </a:p>
          <a:p>
            <a:endParaRPr lang="en-US" sz="1300">
              <a:solidFill>
                <a:srgbClr val="1E293B"/>
              </a:solidFill>
              <a:latin typeface="Arial" panose="020B0604020202020204" pitchFamily="34" charset="0"/>
            </a:endParaRPr>
          </a:p>
          <a:p>
            <a:r>
              <a:rPr lang="en-US" sz="1300">
                <a:solidFill>
                  <a:srgbClr val="1E293B"/>
                </a:solidFill>
                <a:latin typeface="Arial" panose="020B0604020202020204" pitchFamily="34" charset="0"/>
              </a:rPr>
              <a:t>* Delays payroll release and pulls management away from core salon operations.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03D511-12E3-0E67-9317-331EB0886FA4}"/>
              </a:ext>
            </a:extLst>
          </p:cNvPr>
          <p:cNvSpPr/>
          <p:nvPr/>
        </p:nvSpPr>
        <p:spPr>
          <a:xfrm>
            <a:off x="4381500" y="1397000"/>
            <a:ext cx="342900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C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E3B9FD-FADB-47CC-92AF-7D565506E610}"/>
              </a:ext>
            </a:extLst>
          </p:cNvPr>
          <p:cNvSpPr txBox="1"/>
          <p:nvPr/>
        </p:nvSpPr>
        <p:spPr>
          <a:xfrm>
            <a:off x="4572000" y="1587500"/>
            <a:ext cx="3048000" cy="229293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1E293B"/>
                </a:solidFill>
                <a:latin typeface="Arial" panose="020B0604020202020204" pitchFamily="34" charset="0"/>
              </a:rPr>
              <a:t>PRONE TO ERRORS</a:t>
            </a:r>
          </a:p>
          <a:p>
            <a:endParaRPr lang="en-US" sz="1300">
              <a:solidFill>
                <a:srgbClr val="1E293B"/>
              </a:solidFill>
              <a:latin typeface="Arial" panose="020B0604020202020204" pitchFamily="34" charset="0"/>
            </a:endParaRPr>
          </a:p>
          <a:p>
            <a:r>
              <a:rPr lang="en-US" sz="1300">
                <a:solidFill>
                  <a:srgbClr val="1E293B"/>
                </a:solidFill>
                <a:latin typeface="Arial" panose="020B0604020202020204" pitchFamily="34" charset="0"/>
              </a:rPr>
              <a:t>* Manual math for:</a:t>
            </a:r>
          </a:p>
          <a:p>
            <a:r>
              <a:rPr lang="en-US" sz="1300">
                <a:solidFill>
                  <a:srgbClr val="1E293B"/>
                </a:solidFill>
                <a:latin typeface="Arial" panose="020B0604020202020204" pitchFamily="34" charset="0"/>
              </a:rPr>
              <a:t>  - 5-min grace periods</a:t>
            </a:r>
          </a:p>
          <a:p>
            <a:r>
              <a:rPr lang="en-US" sz="1300">
                <a:solidFill>
                  <a:srgbClr val="1E293B"/>
                </a:solidFill>
                <a:latin typeface="Arial" panose="020B0604020202020204" pitchFamily="34" charset="0"/>
              </a:rPr>
              <a:t>  - 10-min tardiness deductions</a:t>
            </a:r>
          </a:p>
          <a:p>
            <a:r>
              <a:rPr lang="en-US" sz="1300">
                <a:solidFill>
                  <a:srgbClr val="1E293B"/>
                </a:solidFill>
                <a:latin typeface="Arial" panose="020B0604020202020204" pitchFamily="34" charset="0"/>
              </a:rPr>
              <a:t>  - Overtime and Night Diffs</a:t>
            </a:r>
          </a:p>
          <a:p>
            <a:r>
              <a:rPr lang="en-US" sz="1300">
                <a:solidFill>
                  <a:srgbClr val="1E293B"/>
                </a:solidFill>
                <a:latin typeface="Arial" panose="020B0604020202020204" pitchFamily="34" charset="0"/>
              </a:rPr>
              <a:t>  - SSS, PhilHealth, Pag-IBIG</a:t>
            </a:r>
          </a:p>
          <a:p>
            <a:endParaRPr lang="en-US" sz="1300">
              <a:solidFill>
                <a:srgbClr val="1E293B"/>
              </a:solidFill>
              <a:latin typeface="Arial" panose="020B0604020202020204" pitchFamily="34" charset="0"/>
            </a:endParaRPr>
          </a:p>
          <a:p>
            <a:r>
              <a:rPr lang="en-US" sz="1300">
                <a:solidFill>
                  <a:srgbClr val="1E293B"/>
                </a:solidFill>
                <a:latin typeface="Arial" panose="020B0604020202020204" pitchFamily="34" charset="0"/>
              </a:rPr>
              <a:t>* Mathematical errors cause salary disputes and awkward payroll adjustments.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4009B3-3187-7FF5-79A0-88D811347490}"/>
              </a:ext>
            </a:extLst>
          </p:cNvPr>
          <p:cNvSpPr/>
          <p:nvPr/>
        </p:nvSpPr>
        <p:spPr>
          <a:xfrm>
            <a:off x="8128000" y="1397000"/>
            <a:ext cx="342900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C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4E2DA1-C7DD-7B30-89F5-AB9949BAF2F8}"/>
              </a:ext>
            </a:extLst>
          </p:cNvPr>
          <p:cNvSpPr txBox="1"/>
          <p:nvPr/>
        </p:nvSpPr>
        <p:spPr>
          <a:xfrm>
            <a:off x="8318500" y="1587500"/>
            <a:ext cx="3048000" cy="229293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1E293B"/>
                </a:solidFill>
                <a:latin typeface="Arial" panose="020B0604020202020204" pitchFamily="34" charset="0"/>
              </a:rPr>
              <a:t>SCATTERED RECORDS</a:t>
            </a:r>
          </a:p>
          <a:p>
            <a:endParaRPr lang="en-US" sz="1300">
              <a:solidFill>
                <a:srgbClr val="1E293B"/>
              </a:solidFill>
              <a:latin typeface="Arial" panose="020B0604020202020204" pitchFamily="34" charset="0"/>
            </a:endParaRPr>
          </a:p>
          <a:p>
            <a:r>
              <a:rPr lang="en-US" sz="1300">
                <a:solidFill>
                  <a:srgbClr val="1E293B"/>
                </a:solidFill>
                <a:latin typeface="Arial" panose="020B0604020202020204" pitchFamily="34" charset="0"/>
              </a:rPr>
              <a:t>* Biometric files scattered across USB sticks and loose Excel files.</a:t>
            </a:r>
          </a:p>
          <a:p>
            <a:endParaRPr lang="en-US" sz="1300">
              <a:solidFill>
                <a:srgbClr val="1E293B"/>
              </a:solidFill>
              <a:latin typeface="Arial" panose="020B0604020202020204" pitchFamily="34" charset="0"/>
            </a:endParaRPr>
          </a:p>
          <a:p>
            <a:r>
              <a:rPr lang="en-US" sz="1300">
                <a:solidFill>
                  <a:srgbClr val="1E293B"/>
                </a:solidFill>
                <a:latin typeface="Arial" panose="020B0604020202020204" pitchFamily="34" charset="0"/>
              </a:rPr>
              <a:t>* No automated tracking of missing OUT punches or shift anomalies.</a:t>
            </a:r>
          </a:p>
          <a:p>
            <a:endParaRPr lang="en-US" sz="1300">
              <a:solidFill>
                <a:srgbClr val="1E293B"/>
              </a:solidFill>
              <a:latin typeface="Arial" panose="020B0604020202020204" pitchFamily="34" charset="0"/>
            </a:endParaRPr>
          </a:p>
          <a:p>
            <a:r>
              <a:rPr lang="en-US" sz="1300">
                <a:solidFill>
                  <a:srgbClr val="1E293B"/>
                </a:solidFill>
                <a:latin typeface="Arial" panose="020B0604020202020204" pitchFamily="34" charset="0"/>
              </a:rPr>
              <a:t>* Habitual tardiness goes untracked without formal Notice to Explain (NTE) compliance.</a:t>
            </a:r>
          </a:p>
        </p:txBody>
      </p:sp>
    </p:spTree>
    <p:extLst>
      <p:ext uri="{BB962C8B-B14F-4D97-AF65-F5344CB8AC3E}">
        <p14:creationId xmlns:p14="http://schemas.microsoft.com/office/powerpoint/2010/main" val="591161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C31633D-691D-E984-DBFA-D2B05EAB3AC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11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DC5056-481D-D68B-A8CE-E4F2F00769E5}"/>
              </a:ext>
            </a:extLst>
          </p:cNvPr>
          <p:cNvSpPr txBox="1"/>
          <p:nvPr/>
        </p:nvSpPr>
        <p:spPr>
          <a:xfrm>
            <a:off x="635000" y="508000"/>
            <a:ext cx="10922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500" b="1">
                <a:solidFill>
                  <a:srgbClr val="D4AF37"/>
                </a:solidFill>
                <a:latin typeface="Arial" panose="020B0604020202020204" pitchFamily="34" charset="0"/>
              </a:rPr>
              <a:t>The Solution: Custom Smart Biometric HRMS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CBAC71-F196-1D7B-3379-4ED1D40D214E}"/>
              </a:ext>
            </a:extLst>
          </p:cNvPr>
          <p:cNvSpPr txBox="1"/>
          <p:nvPr/>
        </p:nvSpPr>
        <p:spPr>
          <a:xfrm>
            <a:off x="635000" y="1143000"/>
            <a:ext cx="10922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FFFFFF"/>
                </a:solidFill>
                <a:latin typeface="Arial" panose="020B0604020202020204" pitchFamily="34" charset="0"/>
              </a:rPr>
              <a:t>Transforms 2 Days of Manual Math into a 5-Minute Automated Workflow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446CEA-ECF8-FAF5-617B-937152F1FB2C}"/>
              </a:ext>
            </a:extLst>
          </p:cNvPr>
          <p:cNvSpPr/>
          <p:nvPr/>
        </p:nvSpPr>
        <p:spPr>
          <a:xfrm>
            <a:off x="635000" y="1714500"/>
            <a:ext cx="2540000" cy="4381500"/>
          </a:xfrm>
          <a:prstGeom prst="rect">
            <a:avLst/>
          </a:prstGeom>
          <a:solidFill>
            <a:srgbClr val="0F1E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B802BC-CD8D-E969-C3E2-7C1AB97B00EF}"/>
              </a:ext>
            </a:extLst>
          </p:cNvPr>
          <p:cNvSpPr txBox="1"/>
          <p:nvPr/>
        </p:nvSpPr>
        <p:spPr>
          <a:xfrm>
            <a:off x="825500" y="1905000"/>
            <a:ext cx="2159000" cy="15696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FFFFFF"/>
                </a:solidFill>
                <a:latin typeface="Arial" panose="020B0604020202020204" pitchFamily="34" charset="0"/>
              </a:rPr>
              <a:t>1. NGTeco Ingestion</a:t>
            </a:r>
          </a:p>
          <a:p>
            <a:endParaRPr lang="en-US" sz="120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r>
              <a:rPr lang="en-US" sz="1200">
                <a:solidFill>
                  <a:srgbClr val="FFFFFF"/>
                </a:solidFill>
                <a:latin typeface="Arial" panose="020B0604020202020204" pitchFamily="34" charset="0"/>
              </a:rPr>
              <a:t>Drag and drop raw Excel files exported directly from branch biometric clocks.</a:t>
            </a:r>
          </a:p>
          <a:p>
            <a:endParaRPr lang="en-US" sz="120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r>
              <a:rPr lang="en-US" sz="1200">
                <a:solidFill>
                  <a:srgbClr val="FFFFFF"/>
                </a:solidFill>
                <a:latin typeface="Arial" panose="020B0604020202020204" pitchFamily="34" charset="0"/>
              </a:rPr>
              <a:t>Instant automatic punch log recognition and shift pairing.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375BF6-2E6D-D677-3704-F6B81ACE12C9}"/>
              </a:ext>
            </a:extLst>
          </p:cNvPr>
          <p:cNvSpPr/>
          <p:nvPr/>
        </p:nvSpPr>
        <p:spPr>
          <a:xfrm>
            <a:off x="3429000" y="1714500"/>
            <a:ext cx="2540000" cy="4381500"/>
          </a:xfrm>
          <a:prstGeom prst="rect">
            <a:avLst/>
          </a:prstGeom>
          <a:solidFill>
            <a:srgbClr val="0F1E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62BC8B-C111-DBCD-025D-7A922AC84391}"/>
              </a:ext>
            </a:extLst>
          </p:cNvPr>
          <p:cNvSpPr txBox="1"/>
          <p:nvPr/>
        </p:nvSpPr>
        <p:spPr>
          <a:xfrm>
            <a:off x="3619500" y="1905000"/>
            <a:ext cx="2159000" cy="17543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FFFFFF"/>
                </a:solidFill>
                <a:latin typeface="Arial" panose="020B0604020202020204" pitchFamily="34" charset="0"/>
              </a:rPr>
              <a:t>2. Anomaly Engine</a:t>
            </a:r>
          </a:p>
          <a:p>
            <a:endParaRPr lang="en-US" sz="120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r>
              <a:rPr lang="en-US" sz="1200">
                <a:solidFill>
                  <a:srgbClr val="FFFFFF"/>
                </a:solidFill>
                <a:latin typeface="Arial" panose="020B0604020202020204" pitchFamily="34" charset="0"/>
              </a:rPr>
              <a:t>Automatically flags missed clock-outs, unpaired shifts, and late arrivals.</a:t>
            </a:r>
          </a:p>
          <a:p>
            <a:endParaRPr lang="en-US" sz="120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r>
              <a:rPr lang="en-US" sz="1200">
                <a:solidFill>
                  <a:srgbClr val="FFFFFF"/>
                </a:solidFill>
                <a:latin typeface="Arial" panose="020B0604020202020204" pitchFamily="34" charset="0"/>
              </a:rPr>
              <a:t>HR resolves exceptions in seconds with complete audit notes.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A6BA57-5FEC-3321-E36A-765EDFE26004}"/>
              </a:ext>
            </a:extLst>
          </p:cNvPr>
          <p:cNvSpPr/>
          <p:nvPr/>
        </p:nvSpPr>
        <p:spPr>
          <a:xfrm>
            <a:off x="6223000" y="1714500"/>
            <a:ext cx="2540000" cy="4381500"/>
          </a:xfrm>
          <a:prstGeom prst="rect">
            <a:avLst/>
          </a:prstGeom>
          <a:solidFill>
            <a:srgbClr val="0F1E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D6A171-0E50-EBA4-5ECD-DE070C44A8EE}"/>
              </a:ext>
            </a:extLst>
          </p:cNvPr>
          <p:cNvSpPr txBox="1"/>
          <p:nvPr/>
        </p:nvSpPr>
        <p:spPr>
          <a:xfrm>
            <a:off x="6413500" y="1905000"/>
            <a:ext cx="2159000" cy="17543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FFFFFF"/>
                </a:solidFill>
                <a:latin typeface="Arial" panose="020B0604020202020204" pitchFamily="34" charset="0"/>
              </a:rPr>
              <a:t>3. Automated NTE</a:t>
            </a:r>
          </a:p>
          <a:p>
            <a:endParaRPr lang="en-US" sz="120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r>
              <a:rPr lang="en-US" sz="1200">
                <a:solidFill>
                  <a:srgbClr val="FFFFFF"/>
                </a:solidFill>
                <a:latin typeface="Arial" panose="020B0604020202020204" pitchFamily="34" charset="0"/>
              </a:rPr>
              <a:t>Enforces 5-min grace and 10-min deduction rules.</a:t>
            </a:r>
          </a:p>
          <a:p>
            <a:endParaRPr lang="en-US" sz="120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r>
              <a:rPr lang="en-US" sz="1200">
                <a:solidFill>
                  <a:srgbClr val="FFFFFF"/>
                </a:solidFill>
                <a:latin typeface="Arial" panose="020B0604020202020204" pitchFamily="34" charset="0"/>
              </a:rPr>
              <a:t>Automatically detects 3+ late staff and generates ready-to-print Notice to Explain letters.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B535C7-29EA-3CC5-91CE-51C1EFA4F3D8}"/>
              </a:ext>
            </a:extLst>
          </p:cNvPr>
          <p:cNvSpPr/>
          <p:nvPr/>
        </p:nvSpPr>
        <p:spPr>
          <a:xfrm>
            <a:off x="9017000" y="1714500"/>
            <a:ext cx="2540000" cy="4381500"/>
          </a:xfrm>
          <a:prstGeom prst="rect">
            <a:avLst/>
          </a:prstGeom>
          <a:solidFill>
            <a:srgbClr val="0F1E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F7C7E3-38BD-0F96-953A-22CB88A520B1}"/>
              </a:ext>
            </a:extLst>
          </p:cNvPr>
          <p:cNvSpPr txBox="1"/>
          <p:nvPr/>
        </p:nvSpPr>
        <p:spPr>
          <a:xfrm>
            <a:off x="9207500" y="1905000"/>
            <a:ext cx="2159000" cy="193899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FFFFFF"/>
                </a:solidFill>
                <a:latin typeface="Arial" panose="020B0604020202020204" pitchFamily="34" charset="0"/>
              </a:rPr>
              <a:t>4. 1-Click Gross-to-Net</a:t>
            </a:r>
          </a:p>
          <a:p>
            <a:endParaRPr lang="en-US" sz="120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r>
              <a:rPr lang="en-US" sz="1200">
                <a:solidFill>
                  <a:srgbClr val="FFFFFF"/>
                </a:solidFill>
                <a:latin typeface="Arial" panose="020B0604020202020204" pitchFamily="34" charset="0"/>
              </a:rPr>
              <a:t>Computes Basic Pay, Overtime, Night Diff, SSS, PhilHealth, Pag-IBIG in 1 second.</a:t>
            </a:r>
          </a:p>
          <a:p>
            <a:endParaRPr lang="en-US" sz="120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r>
              <a:rPr lang="en-US" sz="1200">
                <a:solidFill>
                  <a:srgbClr val="FFFFFF"/>
                </a:solidFill>
                <a:latin typeface="Arial" panose="020B0604020202020204" pitchFamily="34" charset="0"/>
              </a:rPr>
              <a:t>Generates printable itemized payslips with your company logo.</a:t>
            </a:r>
          </a:p>
        </p:txBody>
      </p:sp>
    </p:spTree>
    <p:extLst>
      <p:ext uri="{BB962C8B-B14F-4D97-AF65-F5344CB8AC3E}">
        <p14:creationId xmlns:p14="http://schemas.microsoft.com/office/powerpoint/2010/main" val="3768586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0C66725-79E2-8A3C-2D10-555981D5139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3EF908-C6A3-2EC1-951C-68F0A250E98E}"/>
              </a:ext>
            </a:extLst>
          </p:cNvPr>
          <p:cNvSpPr txBox="1"/>
          <p:nvPr/>
        </p:nvSpPr>
        <p:spPr>
          <a:xfrm>
            <a:off x="635000" y="508000"/>
            <a:ext cx="10922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500" b="1">
                <a:solidFill>
                  <a:srgbClr val="031134"/>
                </a:solidFill>
                <a:latin typeface="Arial" panose="020B0604020202020204" pitchFamily="34" charset="0"/>
              </a:rPr>
              <a:t>One Centralized Hub for All Salon Branch Operations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C0F6EF-E5CD-CD75-990F-0CAD02264877}"/>
              </a:ext>
            </a:extLst>
          </p:cNvPr>
          <p:cNvSpPr/>
          <p:nvPr/>
        </p:nvSpPr>
        <p:spPr>
          <a:xfrm>
            <a:off x="635000" y="1397000"/>
            <a:ext cx="520700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C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F3AB56-2B9B-DA44-3FFC-433120FD4BA5}"/>
              </a:ext>
            </a:extLst>
          </p:cNvPr>
          <p:cNvSpPr txBox="1"/>
          <p:nvPr/>
        </p:nvSpPr>
        <p:spPr>
          <a:xfrm>
            <a:off x="889000" y="1587500"/>
            <a:ext cx="4699000" cy="30931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1E293B"/>
                </a:solidFill>
                <a:latin typeface="Arial" panose="020B0604020202020204" pitchFamily="34" charset="0"/>
              </a:rPr>
              <a:t>CURRENT ACTIVE LOCATIONS</a:t>
            </a:r>
          </a:p>
          <a:p>
            <a:endParaRPr lang="en-US" sz="1300">
              <a:solidFill>
                <a:srgbClr val="1E293B"/>
              </a:solidFill>
              <a:latin typeface="Arial" panose="020B0604020202020204" pitchFamily="34" charset="0"/>
            </a:endParaRPr>
          </a:p>
          <a:p>
            <a:r>
              <a:rPr lang="en-US" sz="1300">
                <a:solidFill>
                  <a:srgbClr val="1E293B"/>
                </a:solidFill>
                <a:latin typeface="Arial" panose="020B0604020202020204" pitchFamily="34" charset="0"/>
              </a:rPr>
              <a:t>1. Centrio Mall Branch</a:t>
            </a:r>
          </a:p>
          <a:p>
            <a:r>
              <a:rPr lang="en-US" sz="1300">
                <a:solidFill>
                  <a:srgbClr val="1E293B"/>
                </a:solidFill>
                <a:latin typeface="Arial" panose="020B0604020202020204" pitchFamily="34" charset="0"/>
              </a:rPr>
              <a:t>   - Waxing Salon operations</a:t>
            </a:r>
          </a:p>
          <a:p>
            <a:r>
              <a:rPr lang="en-US" sz="1300">
                <a:solidFill>
                  <a:srgbClr val="1E293B"/>
                </a:solidFill>
                <a:latin typeface="Arial" panose="020B0604020202020204" pitchFamily="34" charset="0"/>
              </a:rPr>
              <a:t>   - Passion Nails division</a:t>
            </a:r>
          </a:p>
          <a:p>
            <a:endParaRPr lang="en-US" sz="1300">
              <a:solidFill>
                <a:srgbClr val="1E293B"/>
              </a:solidFill>
              <a:latin typeface="Arial" panose="020B0604020202020204" pitchFamily="34" charset="0"/>
            </a:endParaRPr>
          </a:p>
          <a:p>
            <a:r>
              <a:rPr lang="en-US" sz="1300">
                <a:solidFill>
                  <a:srgbClr val="1E293B"/>
                </a:solidFill>
                <a:latin typeface="Arial" panose="020B0604020202020204" pitchFamily="34" charset="0"/>
              </a:rPr>
              <a:t>2. Limketkai Mall (Ketkai) Branch</a:t>
            </a:r>
          </a:p>
          <a:p>
            <a:r>
              <a:rPr lang="en-US" sz="1300">
                <a:solidFill>
                  <a:srgbClr val="1E293B"/>
                </a:solidFill>
                <a:latin typeface="Arial" panose="020B0604020202020204" pitchFamily="34" charset="0"/>
              </a:rPr>
              <a:t>   - Dedicated salon technicians and desk staff</a:t>
            </a:r>
          </a:p>
          <a:p>
            <a:endParaRPr lang="en-US" sz="1300">
              <a:solidFill>
                <a:srgbClr val="1E293B"/>
              </a:solidFill>
              <a:latin typeface="Arial" panose="020B0604020202020204" pitchFamily="34" charset="0"/>
            </a:endParaRPr>
          </a:p>
          <a:p>
            <a:r>
              <a:rPr lang="en-US" sz="1300">
                <a:solidFill>
                  <a:srgbClr val="1E293B"/>
                </a:solidFill>
                <a:latin typeface="Arial" panose="020B0604020202020204" pitchFamily="34" charset="0"/>
              </a:rPr>
              <a:t>3. SM Downtown Branch</a:t>
            </a:r>
          </a:p>
          <a:p>
            <a:r>
              <a:rPr lang="en-US" sz="1300">
                <a:solidFill>
                  <a:srgbClr val="1E293B"/>
                </a:solidFill>
                <a:latin typeface="Arial" panose="020B0604020202020204" pitchFamily="34" charset="0"/>
              </a:rPr>
              <a:t>   - High-traffic mall operations</a:t>
            </a:r>
          </a:p>
          <a:p>
            <a:endParaRPr lang="en-US" sz="1300">
              <a:solidFill>
                <a:srgbClr val="1E293B"/>
              </a:solidFill>
              <a:latin typeface="Arial" panose="020B0604020202020204" pitchFamily="34" charset="0"/>
            </a:endParaRPr>
          </a:p>
          <a:p>
            <a:r>
              <a:rPr lang="en-US" sz="1300">
                <a:solidFill>
                  <a:srgbClr val="1E293B"/>
                </a:solidFill>
                <a:latin typeface="Arial" panose="020B0604020202020204" pitchFamily="34" charset="0"/>
              </a:rPr>
              <a:t>*Future-Ready Architecture:*</a:t>
            </a:r>
          </a:p>
          <a:p>
            <a:r>
              <a:rPr lang="en-US" sz="1300">
                <a:solidFill>
                  <a:srgbClr val="1E293B"/>
                </a:solidFill>
                <a:latin typeface="Arial" panose="020B0604020202020204" pitchFamily="34" charset="0"/>
              </a:rPr>
              <a:t>Seamlessly accommodates new branches (such as Iligan) whenever ready without restructuring.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3C683C-992D-B5E0-C3DA-8C0B41C516EF}"/>
              </a:ext>
            </a:extLst>
          </p:cNvPr>
          <p:cNvSpPr/>
          <p:nvPr/>
        </p:nvSpPr>
        <p:spPr>
          <a:xfrm>
            <a:off x="6223000" y="1397000"/>
            <a:ext cx="533400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C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5F5731-3E0D-B63D-7C9F-52D2051B9813}"/>
              </a:ext>
            </a:extLst>
          </p:cNvPr>
          <p:cNvSpPr txBox="1"/>
          <p:nvPr/>
        </p:nvSpPr>
        <p:spPr>
          <a:xfrm>
            <a:off x="6477000" y="1587500"/>
            <a:ext cx="4826000" cy="269304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1E293B"/>
                </a:solidFill>
                <a:latin typeface="Arial" panose="020B0604020202020204" pitchFamily="34" charset="0"/>
              </a:rPr>
              <a:t>CLOUD CONVENIENCE &amp; VISIBILITY</a:t>
            </a:r>
          </a:p>
          <a:p>
            <a:endParaRPr lang="en-US" sz="1300">
              <a:solidFill>
                <a:srgbClr val="1E293B"/>
              </a:solidFill>
              <a:latin typeface="Arial" panose="020B0604020202020204" pitchFamily="34" charset="0"/>
            </a:endParaRPr>
          </a:p>
          <a:p>
            <a:r>
              <a:rPr lang="en-US" sz="1300">
                <a:solidFill>
                  <a:srgbClr val="1E293B"/>
                </a:solidFill>
                <a:latin typeface="Arial" panose="020B0604020202020204" pitchFamily="34" charset="0"/>
              </a:rPr>
              <a:t>* Accessible 24/7 at: https://alrajj-legacy.vercel.app</a:t>
            </a:r>
          </a:p>
          <a:p>
            <a:endParaRPr lang="en-US" sz="1300">
              <a:solidFill>
                <a:srgbClr val="1E293B"/>
              </a:solidFill>
              <a:latin typeface="Arial" panose="020B0604020202020204" pitchFamily="34" charset="0"/>
            </a:endParaRPr>
          </a:p>
          <a:p>
            <a:r>
              <a:rPr lang="en-US" sz="1300">
                <a:solidFill>
                  <a:srgbClr val="1E293B"/>
                </a:solidFill>
                <a:latin typeface="Arial" panose="020B0604020202020204" pitchFamily="34" charset="0"/>
              </a:rPr>
              <a:t>* No Software to Install:</a:t>
            </a:r>
          </a:p>
          <a:p>
            <a:r>
              <a:rPr lang="en-US" sz="1300">
                <a:solidFill>
                  <a:srgbClr val="1E293B"/>
                </a:solidFill>
                <a:latin typeface="Arial" panose="020B0604020202020204" pitchFamily="34" charset="0"/>
              </a:rPr>
              <a:t>  Runs smoothly on any browser (Chrome, Edge, Safari, Mobile).</a:t>
            </a:r>
          </a:p>
          <a:p>
            <a:endParaRPr lang="en-US" sz="1300">
              <a:solidFill>
                <a:srgbClr val="1E293B"/>
              </a:solidFill>
              <a:latin typeface="Arial" panose="020B0604020202020204" pitchFamily="34" charset="0"/>
            </a:endParaRPr>
          </a:p>
          <a:p>
            <a:r>
              <a:rPr lang="en-US" sz="1300">
                <a:solidFill>
                  <a:srgbClr val="1E293B"/>
                </a:solidFill>
                <a:latin typeface="Arial" panose="020B0604020202020204" pitchFamily="34" charset="0"/>
              </a:rPr>
              <a:t>* Executive Oversight:</a:t>
            </a:r>
          </a:p>
          <a:p>
            <a:r>
              <a:rPr lang="en-US" sz="1300">
                <a:solidFill>
                  <a:srgbClr val="1E293B"/>
                </a:solidFill>
                <a:latin typeface="Arial" panose="020B0604020202020204" pitchFamily="34" charset="0"/>
              </a:rPr>
              <a:t>  General Manager and HR can inspect real-time attendance, exceptions, and payroll figures from any device, anywhere.</a:t>
            </a:r>
          </a:p>
          <a:p>
            <a:endParaRPr lang="en-US" sz="1300">
              <a:solidFill>
                <a:srgbClr val="1E293B"/>
              </a:solidFill>
              <a:latin typeface="Arial" panose="020B0604020202020204" pitchFamily="34" charset="0"/>
            </a:endParaRPr>
          </a:p>
          <a:p>
            <a:r>
              <a:rPr lang="en-US" sz="1300">
                <a:solidFill>
                  <a:srgbClr val="1E293B"/>
                </a:solidFill>
                <a:latin typeface="Arial" panose="020B0604020202020204" pitchFamily="34" charset="0"/>
              </a:rPr>
              <a:t>* Bank-grade data handling and secure cloud backups.</a:t>
            </a:r>
          </a:p>
        </p:txBody>
      </p:sp>
    </p:spTree>
    <p:extLst>
      <p:ext uri="{BB962C8B-B14F-4D97-AF65-F5344CB8AC3E}">
        <p14:creationId xmlns:p14="http://schemas.microsoft.com/office/powerpoint/2010/main" val="3104031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DFE6AE-CB4E-E921-6CBA-24446DB2212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11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8A47AF-8D02-8926-DF50-4E1F18617757}"/>
              </a:ext>
            </a:extLst>
          </p:cNvPr>
          <p:cNvSpPr txBox="1"/>
          <p:nvPr/>
        </p:nvSpPr>
        <p:spPr>
          <a:xfrm>
            <a:off x="635000" y="444500"/>
            <a:ext cx="10922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D4AF37"/>
                </a:solidFill>
                <a:latin typeface="Arial" panose="020B0604020202020204" pitchFamily="34" charset="0"/>
              </a:rPr>
              <a:t>End-to-End Payroll &amp; BPI ATM Disbursement Pipeline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EAE4C7-E454-A1E8-3F7E-5C447F61C0EE}"/>
              </a:ext>
            </a:extLst>
          </p:cNvPr>
          <p:cNvSpPr txBox="1"/>
          <p:nvPr/>
        </p:nvSpPr>
        <p:spPr>
          <a:xfrm>
            <a:off x="635000" y="1016000"/>
            <a:ext cx="10922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FFFFFF"/>
                </a:solidFill>
                <a:latin typeface="Arial" panose="020B0604020202020204" pitchFamily="34" charset="0"/>
              </a:rPr>
              <a:t>A 5-Stage Closed Loop: From Raw Punches to Employee ATM Crediting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F9F6E6-045E-ADC2-BD60-5636A18B89CD}"/>
              </a:ext>
            </a:extLst>
          </p:cNvPr>
          <p:cNvSpPr/>
          <p:nvPr/>
        </p:nvSpPr>
        <p:spPr>
          <a:xfrm>
            <a:off x="635000" y="1524000"/>
            <a:ext cx="2032000" cy="4572000"/>
          </a:xfrm>
          <a:prstGeom prst="rect">
            <a:avLst/>
          </a:prstGeom>
          <a:solidFill>
            <a:srgbClr val="0F1E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0B1B54-8B2C-FF66-FCBB-C2E43962ADF0}"/>
              </a:ext>
            </a:extLst>
          </p:cNvPr>
          <p:cNvSpPr txBox="1"/>
          <p:nvPr/>
        </p:nvSpPr>
        <p:spPr>
          <a:xfrm>
            <a:off x="762000" y="1714500"/>
            <a:ext cx="1778000" cy="161582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FFFFFF"/>
                </a:solidFill>
                <a:latin typeface="Arial" panose="020B0604020202020204" pitchFamily="34" charset="0"/>
              </a:rPr>
              <a:t>STEP 1</a:t>
            </a:r>
          </a:p>
          <a:p>
            <a:r>
              <a:rPr lang="en-US" sz="1100">
                <a:solidFill>
                  <a:srgbClr val="FFFFFF"/>
                </a:solidFill>
                <a:latin typeface="Arial" panose="020B0604020202020204" pitchFamily="34" charset="0"/>
              </a:rPr>
              <a:t>HR INGESTION</a:t>
            </a:r>
          </a:p>
          <a:p>
            <a:endParaRPr lang="en-US" sz="110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r>
              <a:rPr lang="en-US" sz="1100">
                <a:solidFill>
                  <a:srgbClr val="FFFFFF"/>
                </a:solidFill>
                <a:latin typeface="Arial" panose="020B0604020202020204" pitchFamily="34" charset="0"/>
              </a:rPr>
              <a:t>* Drag &amp; drop NGTeco file.</a:t>
            </a:r>
          </a:p>
          <a:p>
            <a:r>
              <a:rPr lang="en-US" sz="1100">
                <a:solidFill>
                  <a:srgbClr val="FFFFFF"/>
                </a:solidFill>
                <a:latin typeface="Arial" panose="020B0604020202020204" pitchFamily="34" charset="0"/>
              </a:rPr>
              <a:t>* Resolve exceptions in 5s.</a:t>
            </a:r>
          </a:p>
          <a:p>
            <a:r>
              <a:rPr lang="en-US" sz="1100">
                <a:solidFill>
                  <a:srgbClr val="FFFFFF"/>
                </a:solidFill>
                <a:latin typeface="Arial" panose="020B0604020202020204" pitchFamily="34" charset="0"/>
              </a:rPr>
              <a:t>* Compute gross-to-net in 1 second.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99AB97-7032-F619-621A-8A4C0FEAA16D}"/>
              </a:ext>
            </a:extLst>
          </p:cNvPr>
          <p:cNvSpPr/>
          <p:nvPr/>
        </p:nvSpPr>
        <p:spPr>
          <a:xfrm>
            <a:off x="2857500" y="1524000"/>
            <a:ext cx="2032000" cy="4572000"/>
          </a:xfrm>
          <a:prstGeom prst="rect">
            <a:avLst/>
          </a:prstGeom>
          <a:solidFill>
            <a:srgbClr val="0F1E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38EB22-710E-44E7-C935-DE12F653D963}"/>
              </a:ext>
            </a:extLst>
          </p:cNvPr>
          <p:cNvSpPr txBox="1"/>
          <p:nvPr/>
        </p:nvSpPr>
        <p:spPr>
          <a:xfrm>
            <a:off x="2984500" y="1714500"/>
            <a:ext cx="1778000" cy="161582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FFFFFF"/>
                </a:solidFill>
                <a:latin typeface="Arial" panose="020B0604020202020204" pitchFamily="34" charset="0"/>
              </a:rPr>
              <a:t>STEP 2</a:t>
            </a:r>
          </a:p>
          <a:p>
            <a:r>
              <a:rPr lang="en-US" sz="1100">
                <a:solidFill>
                  <a:srgbClr val="FFFFFF"/>
                </a:solidFill>
                <a:latin typeface="Arial" panose="020B0604020202020204" pitchFamily="34" charset="0"/>
              </a:rPr>
              <a:t>ACCOUNTING DEPT</a:t>
            </a:r>
          </a:p>
          <a:p>
            <a:endParaRPr lang="en-US" sz="110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r>
              <a:rPr lang="en-US" sz="1100">
                <a:solidFill>
                  <a:srgbClr val="FFFFFF"/>
                </a:solidFill>
                <a:latin typeface="Arial" panose="020B0604020202020204" pitchFamily="34" charset="0"/>
              </a:rPr>
              <a:t>* Forwarded from HR.</a:t>
            </a:r>
          </a:p>
          <a:p>
            <a:r>
              <a:rPr lang="en-US" sz="1100">
                <a:solidFill>
                  <a:srgbClr val="FFFFFF"/>
                </a:solidFill>
                <a:latin typeface="Arial" panose="020B0604020202020204" pitchFamily="34" charset="0"/>
              </a:rPr>
              <a:t>* Accounting audits deductions (SSS/PhilHealth/PagIBIG).</a:t>
            </a:r>
          </a:p>
          <a:p>
            <a:r>
              <a:rPr lang="en-US" sz="1100">
                <a:solidFill>
                  <a:srgbClr val="FFFFFF"/>
                </a:solidFill>
                <a:latin typeface="Arial" panose="020B0604020202020204" pitchFamily="34" charset="0"/>
              </a:rPr>
              <a:t>* Approves ledger.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7B8EF8-E003-B28C-8AB9-EAF69E7FD898}"/>
              </a:ext>
            </a:extLst>
          </p:cNvPr>
          <p:cNvSpPr/>
          <p:nvPr/>
        </p:nvSpPr>
        <p:spPr>
          <a:xfrm>
            <a:off x="5080000" y="1524000"/>
            <a:ext cx="2032000" cy="4572000"/>
          </a:xfrm>
          <a:prstGeom prst="rect">
            <a:avLst/>
          </a:prstGeom>
          <a:solidFill>
            <a:srgbClr val="0F1E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4E074C-37A5-F9B9-3CFD-4BB54D6078CE}"/>
              </a:ext>
            </a:extLst>
          </p:cNvPr>
          <p:cNvSpPr txBox="1"/>
          <p:nvPr/>
        </p:nvSpPr>
        <p:spPr>
          <a:xfrm>
            <a:off x="5207000" y="1714500"/>
            <a:ext cx="1778000" cy="144655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FFFFFF"/>
                </a:solidFill>
                <a:latin typeface="Arial" panose="020B0604020202020204" pitchFamily="34" charset="0"/>
              </a:rPr>
              <a:t>STEP 3</a:t>
            </a:r>
          </a:p>
          <a:p>
            <a:r>
              <a:rPr lang="en-US" sz="1100">
                <a:solidFill>
                  <a:srgbClr val="FFFFFF"/>
                </a:solidFill>
                <a:latin typeface="Arial" panose="020B0604020202020204" pitchFamily="34" charset="0"/>
              </a:rPr>
              <a:t>BPI BIZLINK</a:t>
            </a:r>
          </a:p>
          <a:p>
            <a:endParaRPr lang="en-US" sz="110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r>
              <a:rPr lang="en-US" sz="1100">
                <a:solidFill>
                  <a:srgbClr val="FFFFFF"/>
                </a:solidFill>
                <a:latin typeface="Arial" panose="020B0604020202020204" pitchFamily="34" charset="0"/>
              </a:rPr>
              <a:t>* System generates BPI Corporate Batch CSV/TXT file.</a:t>
            </a:r>
          </a:p>
          <a:p>
            <a:r>
              <a:rPr lang="en-US" sz="1100">
                <a:solidFill>
                  <a:srgbClr val="FFFFFF"/>
                </a:solidFill>
                <a:latin typeface="Arial" panose="020B0604020202020204" pitchFamily="34" charset="0"/>
              </a:rPr>
              <a:t>* Auto-formats account numbers and net pays.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71AABB-C4D9-9C00-5BD5-989A4EDB0C24}"/>
              </a:ext>
            </a:extLst>
          </p:cNvPr>
          <p:cNvSpPr/>
          <p:nvPr/>
        </p:nvSpPr>
        <p:spPr>
          <a:xfrm>
            <a:off x="7302500" y="1524000"/>
            <a:ext cx="2032000" cy="4572000"/>
          </a:xfrm>
          <a:prstGeom prst="rect">
            <a:avLst/>
          </a:prstGeom>
          <a:solidFill>
            <a:srgbClr val="0F1E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65AFBF-8F0D-E3CC-E9A0-D4209CAAF107}"/>
              </a:ext>
            </a:extLst>
          </p:cNvPr>
          <p:cNvSpPr txBox="1"/>
          <p:nvPr/>
        </p:nvSpPr>
        <p:spPr>
          <a:xfrm>
            <a:off x="7429500" y="1714500"/>
            <a:ext cx="1778000" cy="144655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FFFFFF"/>
                </a:solidFill>
                <a:latin typeface="Arial" panose="020B0604020202020204" pitchFamily="34" charset="0"/>
              </a:rPr>
              <a:t>STEP 4</a:t>
            </a:r>
          </a:p>
          <a:p>
            <a:r>
              <a:rPr lang="en-US" sz="1100">
                <a:solidFill>
                  <a:srgbClr val="FFFFFF"/>
                </a:solidFill>
                <a:latin typeface="Arial" panose="020B0604020202020204" pitchFamily="34" charset="0"/>
              </a:rPr>
              <a:t>MD APPROVAL</a:t>
            </a:r>
          </a:p>
          <a:p>
            <a:endParaRPr lang="en-US" sz="110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r>
              <a:rPr lang="en-US" sz="1100">
                <a:solidFill>
                  <a:srgbClr val="FFFFFF"/>
                </a:solidFill>
                <a:latin typeface="Arial" panose="020B0604020202020204" pitchFamily="34" charset="0"/>
              </a:rPr>
              <a:t>* Managing Director (Ms. Jehan Abedin) final authorization.</a:t>
            </a:r>
          </a:p>
          <a:p>
            <a:r>
              <a:rPr lang="en-US" sz="1100">
                <a:solidFill>
                  <a:srgbClr val="FFFFFF"/>
                </a:solidFill>
                <a:latin typeface="Arial" panose="020B0604020202020204" pitchFamily="34" charset="0"/>
              </a:rPr>
              <a:t>* Authorizes BPI BizLink online batch.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12D428-3E8C-B6B9-EDE8-88974A9AC85B}"/>
              </a:ext>
            </a:extLst>
          </p:cNvPr>
          <p:cNvSpPr/>
          <p:nvPr/>
        </p:nvSpPr>
        <p:spPr>
          <a:xfrm>
            <a:off x="9525000" y="1524000"/>
            <a:ext cx="2032000" cy="4572000"/>
          </a:xfrm>
          <a:prstGeom prst="rect">
            <a:avLst/>
          </a:prstGeom>
          <a:solidFill>
            <a:srgbClr val="0F1E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2B9265-C60C-C0FE-A700-232C3EC8E65F}"/>
              </a:ext>
            </a:extLst>
          </p:cNvPr>
          <p:cNvSpPr txBox="1"/>
          <p:nvPr/>
        </p:nvSpPr>
        <p:spPr>
          <a:xfrm>
            <a:off x="9652000" y="1714500"/>
            <a:ext cx="1778000" cy="144655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FFFFFF"/>
                </a:solidFill>
                <a:latin typeface="Arial" panose="020B0604020202020204" pitchFamily="34" charset="0"/>
              </a:rPr>
              <a:t>STEP 5</a:t>
            </a:r>
          </a:p>
          <a:p>
            <a:r>
              <a:rPr lang="en-US" sz="1100">
                <a:solidFill>
                  <a:srgbClr val="FFFFFF"/>
                </a:solidFill>
                <a:latin typeface="Arial" panose="020B0604020202020204" pitchFamily="34" charset="0"/>
              </a:rPr>
              <a:t>ATM &amp; PAYSLIPS</a:t>
            </a:r>
          </a:p>
          <a:p>
            <a:endParaRPr lang="en-US" sz="110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r>
              <a:rPr lang="en-US" sz="1100">
                <a:solidFill>
                  <a:srgbClr val="FFFFFF"/>
                </a:solidFill>
                <a:latin typeface="Arial" panose="020B0604020202020204" pitchFamily="34" charset="0"/>
              </a:rPr>
              <a:t>* Salary available in employee ATM accounts.</a:t>
            </a:r>
          </a:p>
          <a:p>
            <a:r>
              <a:rPr lang="en-US" sz="1100">
                <a:solidFill>
                  <a:srgbClr val="FFFFFF"/>
                </a:solidFill>
                <a:latin typeface="Arial" panose="020B0604020202020204" pitchFamily="34" charset="0"/>
              </a:rPr>
              <a:t>* Official printable payslips released with ALRAJJ logo.</a:t>
            </a:r>
          </a:p>
        </p:txBody>
      </p:sp>
    </p:spTree>
    <p:extLst>
      <p:ext uri="{BB962C8B-B14F-4D97-AF65-F5344CB8AC3E}">
        <p14:creationId xmlns:p14="http://schemas.microsoft.com/office/powerpoint/2010/main" val="1544808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926A18-D6A9-9ECB-95F0-B48A731CE0A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3BAB6C-ECF5-48A5-7510-22DCA93FF33F}"/>
              </a:ext>
            </a:extLst>
          </p:cNvPr>
          <p:cNvSpPr txBox="1"/>
          <p:nvPr/>
        </p:nvSpPr>
        <p:spPr>
          <a:xfrm>
            <a:off x="635000" y="508000"/>
            <a:ext cx="10922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500" b="1">
                <a:solidFill>
                  <a:srgbClr val="031134"/>
                </a:solidFill>
                <a:latin typeface="Arial" panose="020B0604020202020204" pitchFamily="34" charset="0"/>
              </a:rPr>
              <a:t>The 5-Minute Live Demo Flow (For Tuesday)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7E7737-C354-2D5C-CD25-431F9645CB2A}"/>
              </a:ext>
            </a:extLst>
          </p:cNvPr>
          <p:cNvSpPr/>
          <p:nvPr/>
        </p:nvSpPr>
        <p:spPr>
          <a:xfrm>
            <a:off x="635000" y="1524000"/>
            <a:ext cx="254000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C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F6DDB8-AC57-5DA2-EB4C-041B6504A76E}"/>
              </a:ext>
            </a:extLst>
          </p:cNvPr>
          <p:cNvSpPr txBox="1"/>
          <p:nvPr/>
        </p:nvSpPr>
        <p:spPr>
          <a:xfrm>
            <a:off x="825500" y="1714500"/>
            <a:ext cx="2159000" cy="286232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1E293B"/>
                </a:solidFill>
                <a:latin typeface="Arial" panose="020B0604020202020204" pitchFamily="34" charset="0"/>
              </a:rPr>
              <a:t>STEP 1: EXECUTIVE PULSE</a:t>
            </a:r>
          </a:p>
          <a:p>
            <a:r>
              <a:rPr lang="en-US" sz="1200">
                <a:solidFill>
                  <a:srgbClr val="1E293B"/>
                </a:solidFill>
                <a:latin typeface="Arial" panose="020B0604020202020204" pitchFamily="34" charset="0"/>
              </a:rPr>
              <a:t>(1 Minute)</a:t>
            </a:r>
          </a:p>
          <a:p>
            <a:endParaRPr lang="en-US" sz="1200">
              <a:solidFill>
                <a:srgbClr val="1E293B"/>
              </a:solidFill>
              <a:latin typeface="Arial" panose="020B0604020202020204" pitchFamily="34" charset="0"/>
            </a:endParaRPr>
          </a:p>
          <a:p>
            <a:r>
              <a:rPr lang="en-US" sz="1200">
                <a:solidFill>
                  <a:srgbClr val="1E293B"/>
                </a:solidFill>
                <a:latin typeface="Arial" panose="020B0604020202020204" pitchFamily="34" charset="0"/>
              </a:rPr>
              <a:t>* Open alrajj-legacy.vercel.app</a:t>
            </a:r>
          </a:p>
          <a:p>
            <a:r>
              <a:rPr lang="en-US" sz="1200">
                <a:solidFill>
                  <a:srgbClr val="1E293B"/>
                </a:solidFill>
                <a:latin typeface="Arial" panose="020B0604020202020204" pitchFamily="34" charset="0"/>
              </a:rPr>
              <a:t>* Show the modern Dashboard</a:t>
            </a:r>
          </a:p>
          <a:p>
            <a:r>
              <a:rPr lang="en-US" sz="1200">
                <a:solidFill>
                  <a:srgbClr val="1E293B"/>
                </a:solidFill>
                <a:latin typeface="Arial" panose="020B0604020202020204" pitchFamily="34" charset="0"/>
              </a:rPr>
              <a:t>* Point out 4 Quick KPIs:</a:t>
            </a:r>
          </a:p>
          <a:p>
            <a:r>
              <a:rPr lang="en-US" sz="1200">
                <a:solidFill>
                  <a:srgbClr val="1E293B"/>
                </a:solidFill>
                <a:latin typeface="Arial" panose="020B0604020202020204" pitchFamily="34" charset="0"/>
              </a:rPr>
              <a:t>  - Active Staff</a:t>
            </a:r>
          </a:p>
          <a:p>
            <a:r>
              <a:rPr lang="en-US" sz="1200">
                <a:solidFill>
                  <a:srgbClr val="1E293B"/>
                </a:solidFill>
                <a:latin typeface="Arial" panose="020B0604020202020204" pitchFamily="34" charset="0"/>
              </a:rPr>
              <a:t>  - Late Minutes</a:t>
            </a:r>
          </a:p>
          <a:p>
            <a:r>
              <a:rPr lang="en-US" sz="1200">
                <a:solidFill>
                  <a:srgbClr val="1E293B"/>
                </a:solidFill>
                <a:latin typeface="Arial" panose="020B0604020202020204" pitchFamily="34" charset="0"/>
              </a:rPr>
              <a:t>  - Avg Shift Hours</a:t>
            </a:r>
          </a:p>
          <a:p>
            <a:r>
              <a:rPr lang="en-US" sz="1200">
                <a:solidFill>
                  <a:srgbClr val="1E293B"/>
                </a:solidFill>
                <a:latin typeface="Arial" panose="020B0604020202020204" pitchFamily="34" charset="0"/>
              </a:rPr>
              <a:t>  - Missed Out / Flags</a:t>
            </a:r>
          </a:p>
          <a:p>
            <a:r>
              <a:rPr lang="en-US" sz="1200">
                <a:solidFill>
                  <a:srgbClr val="1E293B"/>
                </a:solidFill>
                <a:latin typeface="Arial" panose="020B0604020202020204" pitchFamily="34" charset="0"/>
              </a:rPr>
              <a:t>* Show the 88% Attendance Donut chart.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42030D-0770-63EF-ECE9-F68A83865F49}"/>
              </a:ext>
            </a:extLst>
          </p:cNvPr>
          <p:cNvSpPr/>
          <p:nvPr/>
        </p:nvSpPr>
        <p:spPr>
          <a:xfrm>
            <a:off x="3429000" y="1524000"/>
            <a:ext cx="254000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C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80008D-9A47-EEDE-48B9-EDDF3BBEB112}"/>
              </a:ext>
            </a:extLst>
          </p:cNvPr>
          <p:cNvSpPr txBox="1"/>
          <p:nvPr/>
        </p:nvSpPr>
        <p:spPr>
          <a:xfrm>
            <a:off x="3619500" y="1714500"/>
            <a:ext cx="2159000" cy="230832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1E293B"/>
                </a:solidFill>
                <a:latin typeface="Arial" panose="020B0604020202020204" pitchFamily="34" charset="0"/>
              </a:rPr>
              <a:t>STEP 2: BIOMETRIC UPLOAD</a:t>
            </a:r>
          </a:p>
          <a:p>
            <a:r>
              <a:rPr lang="en-US" sz="1200">
                <a:solidFill>
                  <a:srgbClr val="1E293B"/>
                </a:solidFill>
                <a:latin typeface="Arial" panose="020B0604020202020204" pitchFamily="34" charset="0"/>
              </a:rPr>
              <a:t>(1 Minute)</a:t>
            </a:r>
          </a:p>
          <a:p>
            <a:endParaRPr lang="en-US" sz="1200">
              <a:solidFill>
                <a:srgbClr val="1E293B"/>
              </a:solidFill>
              <a:latin typeface="Arial" panose="020B0604020202020204" pitchFamily="34" charset="0"/>
            </a:endParaRPr>
          </a:p>
          <a:p>
            <a:r>
              <a:rPr lang="en-US" sz="1200">
                <a:solidFill>
                  <a:srgbClr val="1E293B"/>
                </a:solidFill>
                <a:latin typeface="Arial" panose="020B0604020202020204" pitchFamily="34" charset="0"/>
              </a:rPr>
              <a:t>* Click 'Biometric Ingestion'</a:t>
            </a:r>
          </a:p>
          <a:p>
            <a:r>
              <a:rPr lang="en-US" sz="1200">
                <a:solidFill>
                  <a:srgbClr val="1E293B"/>
                </a:solidFill>
                <a:latin typeface="Arial" panose="020B0604020202020204" pitchFamily="34" charset="0"/>
              </a:rPr>
              <a:t>* Show the upload area for NGTeco Excel files.</a:t>
            </a:r>
          </a:p>
          <a:p>
            <a:r>
              <a:rPr lang="en-US" sz="1200">
                <a:solidFill>
                  <a:srgbClr val="1E293B"/>
                </a:solidFill>
                <a:latin typeface="Arial" panose="020B0604020202020204" pitchFamily="34" charset="0"/>
              </a:rPr>
              <a:t>* Explain: 'No manual data entry. The system ingests all raw punches and automatically matches employee shifts.'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E35F93-5B61-5F54-AD2B-9AF131CF1F42}"/>
              </a:ext>
            </a:extLst>
          </p:cNvPr>
          <p:cNvSpPr/>
          <p:nvPr/>
        </p:nvSpPr>
        <p:spPr>
          <a:xfrm>
            <a:off x="6223000" y="1524000"/>
            <a:ext cx="254000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C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F428F7-FE19-A19D-7A03-77AF158BCF94}"/>
              </a:ext>
            </a:extLst>
          </p:cNvPr>
          <p:cNvSpPr txBox="1"/>
          <p:nvPr/>
        </p:nvSpPr>
        <p:spPr>
          <a:xfrm>
            <a:off x="6413500" y="1714500"/>
            <a:ext cx="2159000" cy="230832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1E293B"/>
                </a:solidFill>
                <a:latin typeface="Arial" panose="020B0604020202020204" pitchFamily="34" charset="0"/>
              </a:rPr>
              <a:t>STEP 3: EXCEPTIONS &amp; NTE</a:t>
            </a:r>
          </a:p>
          <a:p>
            <a:r>
              <a:rPr lang="en-US" sz="1200">
                <a:solidFill>
                  <a:srgbClr val="1E293B"/>
                </a:solidFill>
                <a:latin typeface="Arial" panose="020B0604020202020204" pitchFamily="34" charset="0"/>
              </a:rPr>
              <a:t>(1.5 Minutes)</a:t>
            </a:r>
          </a:p>
          <a:p>
            <a:endParaRPr lang="en-US" sz="1200">
              <a:solidFill>
                <a:srgbClr val="1E293B"/>
              </a:solidFill>
              <a:latin typeface="Arial" panose="020B0604020202020204" pitchFamily="34" charset="0"/>
            </a:endParaRPr>
          </a:p>
          <a:p>
            <a:r>
              <a:rPr lang="en-US" sz="1200">
                <a:solidFill>
                  <a:srgbClr val="1E293B"/>
                </a:solidFill>
                <a:latin typeface="Arial" panose="020B0604020202020204" pitchFamily="34" charset="0"/>
              </a:rPr>
              <a:t>* Click 'Exceptions &amp; Flags'</a:t>
            </a:r>
          </a:p>
          <a:p>
            <a:r>
              <a:rPr lang="en-US" sz="1200">
                <a:solidFill>
                  <a:srgbClr val="1E293B"/>
                </a:solidFill>
                <a:latin typeface="Arial" panose="020B0604020202020204" pitchFamily="34" charset="0"/>
              </a:rPr>
              <a:t>* Show how missing OUT punches are highlighted.</a:t>
            </a:r>
          </a:p>
          <a:p>
            <a:r>
              <a:rPr lang="en-US" sz="1200">
                <a:solidFill>
                  <a:srgbClr val="1E293B"/>
                </a:solidFill>
                <a:latin typeface="Arial" panose="020B0604020202020204" pitchFamily="34" charset="0"/>
              </a:rPr>
              <a:t>* Click 'Resolve' and adjust shift in 5 seconds.</a:t>
            </a:r>
          </a:p>
          <a:p>
            <a:r>
              <a:rPr lang="en-US" sz="1200">
                <a:solidFill>
                  <a:srgbClr val="1E293B"/>
                </a:solidFill>
                <a:latin typeface="Arial" panose="020B0604020202020204" pitchFamily="34" charset="0"/>
              </a:rPr>
              <a:t>* Click 'Tardiness &amp; NTE' to display auto-generated Notice to Explain letter.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DDF5E2-5BA7-0651-D89D-0D575BCA7B1A}"/>
              </a:ext>
            </a:extLst>
          </p:cNvPr>
          <p:cNvSpPr/>
          <p:nvPr/>
        </p:nvSpPr>
        <p:spPr>
          <a:xfrm>
            <a:off x="9017000" y="1524000"/>
            <a:ext cx="254000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C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AC78F7-0525-FD60-735D-5E36ECDA09AB}"/>
              </a:ext>
            </a:extLst>
          </p:cNvPr>
          <p:cNvSpPr txBox="1"/>
          <p:nvPr/>
        </p:nvSpPr>
        <p:spPr>
          <a:xfrm>
            <a:off x="9207500" y="1714500"/>
            <a:ext cx="2159000" cy="230832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1E293B"/>
                </a:solidFill>
                <a:latin typeface="Arial" panose="020B0604020202020204" pitchFamily="34" charset="0"/>
              </a:rPr>
              <a:t>STEP 4: 1-CLICK PAYROLL</a:t>
            </a:r>
          </a:p>
          <a:p>
            <a:r>
              <a:rPr lang="en-US" sz="1200">
                <a:solidFill>
                  <a:srgbClr val="1E293B"/>
                </a:solidFill>
                <a:latin typeface="Arial" panose="020B0604020202020204" pitchFamily="34" charset="0"/>
              </a:rPr>
              <a:t>(1.5 Minutes)</a:t>
            </a:r>
          </a:p>
          <a:p>
            <a:endParaRPr lang="en-US" sz="1200">
              <a:solidFill>
                <a:srgbClr val="1E293B"/>
              </a:solidFill>
              <a:latin typeface="Arial" panose="020B0604020202020204" pitchFamily="34" charset="0"/>
            </a:endParaRPr>
          </a:p>
          <a:p>
            <a:r>
              <a:rPr lang="en-US" sz="1200">
                <a:solidFill>
                  <a:srgbClr val="1E293B"/>
                </a:solidFill>
                <a:latin typeface="Arial" panose="020B0604020202020204" pitchFamily="34" charset="0"/>
              </a:rPr>
              <a:t>* Click 'Accounting &amp; Payroll'</a:t>
            </a:r>
          </a:p>
          <a:p>
            <a:r>
              <a:rPr lang="en-US" sz="1200">
                <a:solidFill>
                  <a:srgbClr val="1E293B"/>
                </a:solidFill>
                <a:latin typeface="Arial" panose="020B0604020202020204" pitchFamily="34" charset="0"/>
              </a:rPr>
              <a:t>* Click 'Compute Payroll'</a:t>
            </a:r>
          </a:p>
          <a:p>
            <a:r>
              <a:rPr lang="en-US" sz="1200">
                <a:solidFill>
                  <a:srgbClr val="1E293B"/>
                </a:solidFill>
                <a:latin typeface="Arial" panose="020B0604020202020204" pitchFamily="34" charset="0"/>
              </a:rPr>
              <a:t>* Show 5-step BPI disbursement pipeline.</a:t>
            </a:r>
          </a:p>
          <a:p>
            <a:r>
              <a:rPr lang="en-US" sz="1200">
                <a:solidFill>
                  <a:srgbClr val="1E293B"/>
                </a:solidFill>
                <a:latin typeface="Arial" panose="020B0604020202020204" pitchFamily="34" charset="0"/>
              </a:rPr>
              <a:t>* Generate BPI BizLink Batch CSV.</a:t>
            </a:r>
          </a:p>
          <a:p>
            <a:r>
              <a:rPr lang="en-US" sz="1200">
                <a:solidFill>
                  <a:srgbClr val="1E293B"/>
                </a:solidFill>
                <a:latin typeface="Arial" panose="020B0604020202020204" pitchFamily="34" charset="0"/>
              </a:rPr>
              <a:t>* Open an Itemized Payslip with ALRAJJ logo ready to print.</a:t>
            </a:r>
          </a:p>
        </p:txBody>
      </p:sp>
    </p:spTree>
    <p:extLst>
      <p:ext uri="{BB962C8B-B14F-4D97-AF65-F5344CB8AC3E}">
        <p14:creationId xmlns:p14="http://schemas.microsoft.com/office/powerpoint/2010/main" val="2955353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2B98B5-D16D-74F0-73A9-83352192BF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F87E78-8C17-BBD9-EFD4-05522A90369F}"/>
              </a:ext>
            </a:extLst>
          </p:cNvPr>
          <p:cNvSpPr txBox="1"/>
          <p:nvPr/>
        </p:nvSpPr>
        <p:spPr>
          <a:xfrm>
            <a:off x="635000" y="508000"/>
            <a:ext cx="10922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500" b="1">
                <a:solidFill>
                  <a:srgbClr val="031134"/>
                </a:solidFill>
                <a:latin typeface="Arial" panose="020B0604020202020204" pitchFamily="34" charset="0"/>
              </a:rPr>
              <a:t>Tangible Business Value &amp; ROI for Leadership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1DF2B6-6F40-C37D-1FF4-976D892ED93A}"/>
              </a:ext>
            </a:extLst>
          </p:cNvPr>
          <p:cNvSpPr/>
          <p:nvPr/>
        </p:nvSpPr>
        <p:spPr>
          <a:xfrm>
            <a:off x="635000" y="1397000"/>
            <a:ext cx="5207000" cy="203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C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47920B-26D6-B439-E222-8A1AAF699911}"/>
              </a:ext>
            </a:extLst>
          </p:cNvPr>
          <p:cNvSpPr txBox="1"/>
          <p:nvPr/>
        </p:nvSpPr>
        <p:spPr>
          <a:xfrm>
            <a:off x="889000" y="1524000"/>
            <a:ext cx="4699000" cy="10926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1E293B"/>
                </a:solidFill>
                <a:latin typeface="Arial" panose="020B0604020202020204" pitchFamily="34" charset="0"/>
              </a:rPr>
              <a:t>95% TIME REDUCTION</a:t>
            </a:r>
          </a:p>
          <a:p>
            <a:endParaRPr lang="en-US" sz="1300">
              <a:solidFill>
                <a:srgbClr val="1E293B"/>
              </a:solidFill>
              <a:latin typeface="Arial" panose="020B0604020202020204" pitchFamily="34" charset="0"/>
            </a:endParaRPr>
          </a:p>
          <a:p>
            <a:r>
              <a:rPr lang="en-US" sz="1300">
                <a:solidFill>
                  <a:srgbClr val="1E293B"/>
                </a:solidFill>
                <a:latin typeface="Arial" panose="020B0604020202020204" pitchFamily="34" charset="0"/>
              </a:rPr>
              <a:t>Cuts payroll computation from 16 hours (2 working days) down to just 5 minutes per cutoff.</a:t>
            </a:r>
          </a:p>
          <a:p>
            <a:r>
              <a:rPr lang="en-US" sz="1300">
                <a:solidFill>
                  <a:srgbClr val="1E293B"/>
                </a:solidFill>
                <a:latin typeface="Arial" panose="020B0604020202020204" pitchFamily="34" charset="0"/>
              </a:rPr>
              <a:t>Saves over 380 management hours annually.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0D8C43-6715-4BDE-FB4D-FBC2BDFA093F}"/>
              </a:ext>
            </a:extLst>
          </p:cNvPr>
          <p:cNvSpPr/>
          <p:nvPr/>
        </p:nvSpPr>
        <p:spPr>
          <a:xfrm>
            <a:off x="6223000" y="1397000"/>
            <a:ext cx="5334000" cy="203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C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B1E37C-ED46-0F65-3A37-099B2F323101}"/>
              </a:ext>
            </a:extLst>
          </p:cNvPr>
          <p:cNvSpPr txBox="1"/>
          <p:nvPr/>
        </p:nvSpPr>
        <p:spPr>
          <a:xfrm>
            <a:off x="6477000" y="1524000"/>
            <a:ext cx="4826000" cy="10926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1E293B"/>
                </a:solidFill>
                <a:latin typeface="Arial" panose="020B0604020202020204" pitchFamily="34" charset="0"/>
              </a:rPr>
              <a:t>ZERO MATHEMATICAL ERRORS</a:t>
            </a:r>
          </a:p>
          <a:p>
            <a:endParaRPr lang="en-US" sz="1300">
              <a:solidFill>
                <a:srgbClr val="1E293B"/>
              </a:solidFill>
              <a:latin typeface="Arial" panose="020B0604020202020204" pitchFamily="34" charset="0"/>
            </a:endParaRPr>
          </a:p>
          <a:p>
            <a:r>
              <a:rPr lang="en-US" sz="1300">
                <a:solidFill>
                  <a:srgbClr val="1E293B"/>
                </a:solidFill>
                <a:latin typeface="Arial" panose="020B0604020202020204" pitchFamily="34" charset="0"/>
              </a:rPr>
              <a:t>Standardized, automated deductions eliminate over/under-payments, tax mismatches, and employee compensation grievances.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A2E28-11BC-481D-D8AA-D81351243E66}"/>
              </a:ext>
            </a:extLst>
          </p:cNvPr>
          <p:cNvSpPr/>
          <p:nvPr/>
        </p:nvSpPr>
        <p:spPr>
          <a:xfrm>
            <a:off x="635000" y="3683000"/>
            <a:ext cx="5207000" cy="2159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C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E634CC-D937-8704-6F5D-5249352214BB}"/>
              </a:ext>
            </a:extLst>
          </p:cNvPr>
          <p:cNvSpPr txBox="1"/>
          <p:nvPr/>
        </p:nvSpPr>
        <p:spPr>
          <a:xfrm>
            <a:off x="889000" y="3810000"/>
            <a:ext cx="4699000" cy="10926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1E293B"/>
                </a:solidFill>
                <a:latin typeface="Arial" panose="020B0604020202020204" pitchFamily="34" charset="0"/>
              </a:rPr>
              <a:t>LABOR COMPLIANCE PROTECTION</a:t>
            </a:r>
          </a:p>
          <a:p>
            <a:endParaRPr lang="en-US" sz="1300">
              <a:solidFill>
                <a:srgbClr val="1E293B"/>
              </a:solidFill>
              <a:latin typeface="Arial" panose="020B0604020202020204" pitchFamily="34" charset="0"/>
            </a:endParaRPr>
          </a:p>
          <a:p>
            <a:r>
              <a:rPr lang="en-US" sz="1300">
                <a:solidFill>
                  <a:srgbClr val="1E293B"/>
                </a:solidFill>
                <a:latin typeface="Arial" panose="020B0604020202020204" pitchFamily="34" charset="0"/>
              </a:rPr>
              <a:t>Automatic tracking of habitual tardiness with generated 5-day Notice to Explain (NTE) documents protects the company with strict DOLE compliance.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3302CE-D8AA-937E-8876-EB5083C158B1}"/>
              </a:ext>
            </a:extLst>
          </p:cNvPr>
          <p:cNvSpPr/>
          <p:nvPr/>
        </p:nvSpPr>
        <p:spPr>
          <a:xfrm>
            <a:off x="6223000" y="3683000"/>
            <a:ext cx="5334000" cy="2159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C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C456A1-F3F2-3BDB-79CD-5654AB9F400B}"/>
              </a:ext>
            </a:extLst>
          </p:cNvPr>
          <p:cNvSpPr txBox="1"/>
          <p:nvPr/>
        </p:nvSpPr>
        <p:spPr>
          <a:xfrm>
            <a:off x="6477000" y="3810000"/>
            <a:ext cx="4826000" cy="10926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1E293B"/>
                </a:solidFill>
                <a:latin typeface="Arial" panose="020B0604020202020204" pitchFamily="34" charset="0"/>
              </a:rPr>
              <a:t>FULL EXECUTIVE TRANSPARENCY</a:t>
            </a:r>
          </a:p>
          <a:p>
            <a:endParaRPr lang="en-US" sz="1300">
              <a:solidFill>
                <a:srgbClr val="1E293B"/>
              </a:solidFill>
              <a:latin typeface="Arial" panose="020B0604020202020204" pitchFamily="34" charset="0"/>
            </a:endParaRPr>
          </a:p>
          <a:p>
            <a:r>
              <a:rPr lang="en-US" sz="1300">
                <a:solidFill>
                  <a:srgbClr val="1E293B"/>
                </a:solidFill>
                <a:latin typeface="Arial" panose="020B0604020202020204" pitchFamily="34" charset="0"/>
              </a:rPr>
              <a:t>General Manager can review branch attendance health, overtime spend, and branch performance in real time from any smartphone or laptop.</a:t>
            </a:r>
          </a:p>
        </p:txBody>
      </p:sp>
    </p:spTree>
    <p:extLst>
      <p:ext uri="{BB962C8B-B14F-4D97-AF65-F5344CB8AC3E}">
        <p14:creationId xmlns:p14="http://schemas.microsoft.com/office/powerpoint/2010/main" val="3993805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EE8461-1304-9084-4842-5AD8FE61181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11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8A8D52-E7C2-0338-0EF0-D2860DAD23E9}"/>
              </a:ext>
            </a:extLst>
          </p:cNvPr>
          <p:cNvSpPr txBox="1"/>
          <p:nvPr/>
        </p:nvSpPr>
        <p:spPr>
          <a:xfrm>
            <a:off x="635000" y="508000"/>
            <a:ext cx="10922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500" b="1">
                <a:solidFill>
                  <a:srgbClr val="D4AF37"/>
                </a:solidFill>
                <a:latin typeface="Arial" panose="020B0604020202020204" pitchFamily="34" charset="0"/>
              </a:rPr>
              <a:t>Implementation Roadmap &amp; Next Steps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94F39C-2BF9-22F1-7551-2D1B498B748A}"/>
              </a:ext>
            </a:extLst>
          </p:cNvPr>
          <p:cNvSpPr/>
          <p:nvPr/>
        </p:nvSpPr>
        <p:spPr>
          <a:xfrm>
            <a:off x="635000" y="1397000"/>
            <a:ext cx="6350000" cy="4572000"/>
          </a:xfrm>
          <a:prstGeom prst="rect">
            <a:avLst/>
          </a:prstGeom>
          <a:solidFill>
            <a:srgbClr val="0F1E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1617CC-EC85-F6AB-50D2-8E21F82E7497}"/>
              </a:ext>
            </a:extLst>
          </p:cNvPr>
          <p:cNvSpPr txBox="1"/>
          <p:nvPr/>
        </p:nvSpPr>
        <p:spPr>
          <a:xfrm>
            <a:off x="889000" y="1587500"/>
            <a:ext cx="5842000" cy="269304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FFFFFF"/>
                </a:solidFill>
                <a:latin typeface="Arial" panose="020B0604020202020204" pitchFamily="34" charset="0"/>
              </a:rPr>
              <a:t>MILESTONE ROADMAP</a:t>
            </a:r>
          </a:p>
          <a:p>
            <a:endParaRPr lang="en-US" sz="130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r>
              <a:rPr lang="en-US" sz="1300">
                <a:solidFill>
                  <a:srgbClr val="FFFFFF"/>
                </a:solidFill>
                <a:latin typeface="Arial" panose="020B0604020202020204" pitchFamily="34" charset="0"/>
              </a:rPr>
              <a:t>* Milestone 1: Core System &amp; UI (COMPLETE &amp; LIVE)</a:t>
            </a:r>
          </a:p>
          <a:p>
            <a:r>
              <a:rPr lang="en-US" sz="1300">
                <a:solidFill>
                  <a:srgbClr val="FFFFFF"/>
                </a:solidFill>
                <a:latin typeface="Arial" panose="020B0604020202020204" pitchFamily="34" charset="0"/>
              </a:rPr>
              <a:t>  - Live at https://alrajj-legacy.vercel.app</a:t>
            </a:r>
          </a:p>
          <a:p>
            <a:endParaRPr lang="en-US" sz="130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r>
              <a:rPr lang="en-US" sz="1300">
                <a:solidFill>
                  <a:srgbClr val="FFFFFF"/>
                </a:solidFill>
                <a:latin typeface="Arial" panose="020B0604020202020204" pitchFamily="34" charset="0"/>
              </a:rPr>
              <a:t>* Milestone 2: User Acceptance Testing (UAT)</a:t>
            </a:r>
          </a:p>
          <a:p>
            <a:r>
              <a:rPr lang="en-US" sz="1300">
                <a:solidFill>
                  <a:srgbClr val="FFFFFF"/>
                </a:solidFill>
                <a:latin typeface="Arial" panose="020B0604020202020204" pitchFamily="34" charset="0"/>
              </a:rPr>
              <a:t>  - Test with actual NGTeco logs from Centrio, Ketkai, SM Downtown</a:t>
            </a:r>
          </a:p>
          <a:p>
            <a:endParaRPr lang="en-US" sz="130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r>
              <a:rPr lang="en-US" sz="1300">
                <a:solidFill>
                  <a:srgbClr val="FFFFFF"/>
                </a:solidFill>
                <a:latin typeface="Arial" panose="020B0604020202020204" pitchFamily="34" charset="0"/>
              </a:rPr>
              <a:t>* Milestone 3: Live Hand-off &amp; Staff Training</a:t>
            </a:r>
          </a:p>
          <a:p>
            <a:r>
              <a:rPr lang="en-US" sz="1300">
                <a:solidFill>
                  <a:srgbClr val="FFFFFF"/>
                </a:solidFill>
                <a:latin typeface="Arial" panose="020B0604020202020204" pitchFamily="34" charset="0"/>
              </a:rPr>
              <a:t>  - Quick 30-min onboarding for HR team</a:t>
            </a:r>
          </a:p>
          <a:p>
            <a:endParaRPr lang="en-US" sz="130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r>
              <a:rPr lang="en-US" sz="1300">
                <a:solidFill>
                  <a:srgbClr val="FFFFFF"/>
                </a:solidFill>
                <a:latin typeface="Arial" panose="020B0604020202020204" pitchFamily="34" charset="0"/>
              </a:rPr>
              <a:t>* Full 12 Months Support: FREE comprehensive maintenance</a:t>
            </a:r>
          </a:p>
          <a:p>
            <a:r>
              <a:rPr lang="en-US" sz="1300">
                <a:solidFill>
                  <a:srgbClr val="FFFFFF"/>
                </a:solidFill>
                <a:latin typeface="Arial" panose="020B0604020202020204" pitchFamily="34" charset="0"/>
              </a:rPr>
              <a:t>* Year 2+: Highly affordable PHP 1,500/mo cloud retainer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288F14-FFDA-716C-BDDE-67EB14162815}"/>
              </a:ext>
            </a:extLst>
          </p:cNvPr>
          <p:cNvSpPr/>
          <p:nvPr/>
        </p:nvSpPr>
        <p:spPr>
          <a:xfrm>
            <a:off x="7239000" y="1397000"/>
            <a:ext cx="431800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C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53EF22-C737-4B5F-8AAD-455745E3F158}"/>
              </a:ext>
            </a:extLst>
          </p:cNvPr>
          <p:cNvSpPr txBox="1"/>
          <p:nvPr/>
        </p:nvSpPr>
        <p:spPr>
          <a:xfrm>
            <a:off x="7493000" y="1587500"/>
            <a:ext cx="3810000" cy="329320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1E293B"/>
                </a:solidFill>
                <a:latin typeface="Arial" panose="020B0604020202020204" pitchFamily="34" charset="0"/>
              </a:rPr>
              <a:t>READY FOR TUESDAY</a:t>
            </a:r>
          </a:p>
          <a:p>
            <a:endParaRPr lang="en-US" sz="1300">
              <a:solidFill>
                <a:srgbClr val="1E293B"/>
              </a:solidFill>
              <a:latin typeface="Arial" panose="020B0604020202020204" pitchFamily="34" charset="0"/>
            </a:endParaRPr>
          </a:p>
          <a:p>
            <a:r>
              <a:rPr lang="en-US" sz="1300">
                <a:solidFill>
                  <a:srgbClr val="1E293B"/>
                </a:solidFill>
                <a:latin typeface="Arial" panose="020B0604020202020204" pitchFamily="34" charset="0"/>
              </a:rPr>
              <a:t>Immediate Action Items:</a:t>
            </a:r>
          </a:p>
          <a:p>
            <a:endParaRPr lang="en-US" sz="1300">
              <a:solidFill>
                <a:srgbClr val="1E293B"/>
              </a:solidFill>
              <a:latin typeface="Arial" panose="020B0604020202020204" pitchFamily="34" charset="0"/>
            </a:endParaRPr>
          </a:p>
          <a:p>
            <a:r>
              <a:rPr lang="en-US" sz="1300">
                <a:solidFill>
                  <a:srgbClr val="1E293B"/>
                </a:solidFill>
                <a:latin typeface="Arial" panose="020B0604020202020204" pitchFamily="34" charset="0"/>
              </a:rPr>
              <a:t>1. Gather 1 actual biometric export from each of the 3 branches.</a:t>
            </a:r>
          </a:p>
          <a:p>
            <a:endParaRPr lang="en-US" sz="1300">
              <a:solidFill>
                <a:srgbClr val="1E293B"/>
              </a:solidFill>
              <a:latin typeface="Arial" panose="020B0604020202020204" pitchFamily="34" charset="0"/>
            </a:endParaRPr>
          </a:p>
          <a:p>
            <a:r>
              <a:rPr lang="en-US" sz="1300">
                <a:solidFill>
                  <a:srgbClr val="1E293B"/>
                </a:solidFill>
                <a:latin typeface="Arial" panose="020B0604020202020204" pitchFamily="34" charset="0"/>
              </a:rPr>
              <a:t>2. Conduct the 5-minute live demo on alrajj-legacy.vercel.app.</a:t>
            </a:r>
          </a:p>
          <a:p>
            <a:endParaRPr lang="en-US" sz="1300">
              <a:solidFill>
                <a:srgbClr val="1E293B"/>
              </a:solidFill>
              <a:latin typeface="Arial" panose="020B0604020202020204" pitchFamily="34" charset="0"/>
            </a:endParaRPr>
          </a:p>
          <a:p>
            <a:r>
              <a:rPr lang="en-US" sz="1300">
                <a:solidFill>
                  <a:srgbClr val="1E293B"/>
                </a:solidFill>
                <a:latin typeface="Arial" panose="020B0604020202020204" pitchFamily="34" charset="0"/>
              </a:rPr>
              <a:t>3. Sign off on UAT schedule.</a:t>
            </a:r>
          </a:p>
          <a:p>
            <a:endParaRPr lang="en-US" sz="1300">
              <a:solidFill>
                <a:srgbClr val="1E293B"/>
              </a:solidFill>
              <a:latin typeface="Arial" panose="020B0604020202020204" pitchFamily="34" charset="0"/>
            </a:endParaRPr>
          </a:p>
          <a:p>
            <a:endParaRPr lang="en-US" sz="1300">
              <a:solidFill>
                <a:srgbClr val="1E293B"/>
              </a:solidFill>
              <a:latin typeface="Arial" panose="020B0604020202020204" pitchFamily="34" charset="0"/>
            </a:endParaRPr>
          </a:p>
          <a:p>
            <a:r>
              <a:rPr lang="en-US" sz="1300">
                <a:solidFill>
                  <a:srgbClr val="1E293B"/>
                </a:solidFill>
                <a:latin typeface="Arial" panose="020B0604020202020204" pitchFamily="34" charset="0"/>
              </a:rPr>
              <a:t>Thank you!</a:t>
            </a:r>
          </a:p>
          <a:p>
            <a:r>
              <a:rPr lang="en-US" sz="1300">
                <a:solidFill>
                  <a:srgbClr val="1E293B"/>
                </a:solidFill>
                <a:latin typeface="Arial" panose="020B0604020202020204" pitchFamily="34" charset="0"/>
              </a:rPr>
              <a:t>ALRAJJ LEGACY Fortified Business Corp.</a:t>
            </a:r>
          </a:p>
          <a:p>
            <a:r>
              <a:rPr lang="en-US" sz="1300">
                <a:solidFill>
                  <a:srgbClr val="1E293B"/>
                </a:solidFill>
                <a:latin typeface="Arial" panose="020B0604020202020204" pitchFamily="34" charset="0"/>
              </a:rPr>
              <a:t>SETHCON Technologies Inc.</a:t>
            </a:r>
          </a:p>
        </p:txBody>
      </p:sp>
    </p:spTree>
    <p:extLst>
      <p:ext uri="{BB962C8B-B14F-4D97-AF65-F5344CB8AC3E}">
        <p14:creationId xmlns:p14="http://schemas.microsoft.com/office/powerpoint/2010/main" val="480939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1213</Words>
  <Application>Microsoft Office PowerPoint</Application>
  <PresentationFormat>Custom</PresentationFormat>
  <Paragraphs>218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2026-09-07T14:26:26Z</dcterms:created>
  <dcterms:modified xsi:type="dcterms:W3CDTF">2026-09-07T14:26:26Z</dcterms:modified>
</cp:coreProperties>
</file>