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59" d="100"/>
          <a:sy n="59" d="100"/>
        </p:scale>
        <p:origin x="940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074684-36F3-445A-EB86-E92D07D30C5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4AFC46C-B943-FDE0-BD96-68F1F12234A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BC7E39F-E51F-1E0A-F81C-6B21359B94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2BF64C-CFE5-49BD-854E-797BD1FC74DB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83FDAC-2B68-FFF2-AD23-42BB2BAFE3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BE02BC6-76F1-29BE-C7DE-2CD7C610ED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D6D984-39C0-49BD-A2E8-444D556E25F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54204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F30E24-C258-E8AC-8AC1-536914A3F6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5477D8-3CD3-0C5A-A0B8-C5844ACF3A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F29197-EFA4-618E-690C-5B4B51A2B6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2BF64C-CFE5-49BD-854E-797BD1FC74DB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9ECAE12-C219-07C8-FD0C-8EDB91D175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E8BF62-CDF3-BE6D-DF3F-6BC7A22BAB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D6D984-39C0-49BD-A2E8-444D556E25F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810817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27500D-AC87-124E-6D9E-6EB5C24E44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0A57E35-86E6-1A8F-364D-F97C74ECEAE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02FDDE-5307-C14D-55BE-0DB4F96550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2BF64C-CFE5-49BD-854E-797BD1FC74DB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638BA7-3534-DC0B-1784-61225F2E42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ACFF65-87E6-249F-95F4-94D7E8F600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D6D984-39C0-49BD-A2E8-444D556E25F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898957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6E9138-EA24-5846-812A-C6414A3709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6B081C-04DB-B044-F377-8345B6259DD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0C2AD76-8CB4-AFAB-BF7D-762718EA24D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7957FD3-FA9B-CEEC-D3B0-6202D26E72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2BF64C-CFE5-49BD-854E-797BD1FC74DB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28F9325-75D6-A648-4682-AFEE86183C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F08B543-9969-6512-A85D-66BCD31D68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D6D984-39C0-49BD-A2E8-444D556E25F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149474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649D64-88B4-9B2F-379B-2BF135781D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20B13B0-A1A7-1D81-D0B9-3AA7984359D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431B78F-CEAE-E390-B72A-CC401A1E376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0A7819-9B54-EE46-B9D3-544A636E16C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D91F49E-CF74-BF5B-4DE0-B343E7C83F6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D8A6B85-9BE4-8BC4-232F-B6C736D4E8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2BF64C-CFE5-49BD-854E-797BD1FC74DB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76A35BC-E909-E140-09E2-4D50397093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F016CB8-38EA-9C9C-145C-6D8DF93EBE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D6D984-39C0-49BD-A2E8-444D556E25F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791543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940CA6-69E5-ECE5-2884-CA29A5AF38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9522D6E-4DED-345C-DE24-DDBE583160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2BF64C-CFE5-49BD-854E-797BD1FC74DB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BE336F5-0FE3-B2C4-2820-B589BC9116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345F903-BFC7-8354-1E11-B61316F900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D6D984-39C0-49BD-A2E8-444D556E25F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39719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7F8969B-80AC-51F2-AB25-E7F2DC6C10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2BF64C-CFE5-49BD-854E-797BD1FC74DB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B61709B-55FF-6CD2-D33F-34D0BBADC1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3A1C30F-E853-B708-9DB9-0A074A53F7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D6D984-39C0-49BD-A2E8-444D556E25F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009821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30ECD4-B004-07D5-4B18-F6C4C77893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3A4EF8-3528-EDE3-CD66-575E8BE4BF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8A3D683-B34C-4B82-3E3E-535B209850A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F8BE371-8401-FD26-CCB1-CF09220881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2BF64C-CFE5-49BD-854E-797BD1FC74DB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4E91FF7-D29C-672F-55DD-EF294762FD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8E9F89C-7DB6-D31E-0D40-4D8636FF54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D6D984-39C0-49BD-A2E8-444D556E25F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965465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E35D35-35B5-B696-950C-EB67AF5C75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E64128F-4F57-BF7A-3BB0-3CF740239E8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42175C3-EA75-C656-42CA-B0F592DF108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ED5BE65-2A00-72A9-4DA6-A4034CC1D0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2BF64C-CFE5-49BD-854E-797BD1FC74DB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208A79-0B43-5670-5571-06BBD9D57C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109CDA6-CCCF-A423-16D4-B1772746BA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D6D984-39C0-49BD-A2E8-444D556E25F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017456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541486-912E-D152-C878-7D3CCB94C7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8F64B9E-1E4A-9809-BB03-7099061429F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E6E414E-1ED5-836D-28CB-CE833502D0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2BF64C-CFE5-49BD-854E-797BD1FC74DB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AF0E24-3170-7FB5-608F-629A46031A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CDE4494-8059-2B19-81ED-B59F145E72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D6D984-39C0-49BD-A2E8-444D556E25F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3108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77E9FDF-09CD-160F-35E6-7F134BFD9AC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70D7804-B408-1F7F-4C3C-E4A8B25CFA0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E247763-D8E6-23BD-69B4-6176001BA3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2BF64C-CFE5-49BD-854E-797BD1FC74DB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199E4A-E7D0-EED4-D36D-9C6D635D65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2FA6DD-4867-8B9A-4F4B-9AC43A2786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D6D984-39C0-49BD-A2E8-444D556E25F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082792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01AB2C0-A448-3435-4521-EA06149D7B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1C8A409-DAA0-8704-8BE0-8E51B882760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4019E6-B83C-63BA-82CD-F1CF2C3B03D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22BF64C-CFE5-49BD-854E-797BD1FC74DB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046CFC-07E0-8313-9A24-F0E493E7D2B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4AF097-8435-8E3D-B58D-1721EFEFFD5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BD6D984-39C0-49BD-A2E8-444D556E25F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06610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C11D5ADB-EF5B-0DD8-827B-A820A20D4448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3113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FEA9B9B-68F3-B7AF-9CF3-3538E36CDB09}"/>
              </a:ext>
            </a:extLst>
          </p:cNvPr>
          <p:cNvSpPr/>
          <p:nvPr/>
        </p:nvSpPr>
        <p:spPr>
          <a:xfrm>
            <a:off x="889000" y="1397000"/>
            <a:ext cx="101600" cy="3810000"/>
          </a:xfrm>
          <a:prstGeom prst="rect">
            <a:avLst/>
          </a:prstGeom>
          <a:solidFill>
            <a:srgbClr val="D4AF3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4DBE050-136F-7DE4-6610-4583D2E68FBF}"/>
              </a:ext>
            </a:extLst>
          </p:cNvPr>
          <p:cNvSpPr txBox="1"/>
          <p:nvPr/>
        </p:nvSpPr>
        <p:spPr>
          <a:xfrm>
            <a:off x="1270000" y="1270000"/>
            <a:ext cx="10033000" cy="769441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4400" b="1">
                <a:solidFill>
                  <a:srgbClr val="D4AF37"/>
                </a:solidFill>
                <a:latin typeface="Arial" panose="020B0604020202020204" pitchFamily="34" charset="0"/>
              </a:rPr>
              <a:t>ALRAJJ LEGACY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C2A5E44-45F7-ED44-60E5-CFE270E1C3F9}"/>
              </a:ext>
            </a:extLst>
          </p:cNvPr>
          <p:cNvSpPr txBox="1"/>
          <p:nvPr/>
        </p:nvSpPr>
        <p:spPr>
          <a:xfrm>
            <a:off x="1270000" y="2159000"/>
            <a:ext cx="10033000" cy="707886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2000" b="1">
                <a:solidFill>
                  <a:srgbClr val="FFFFFF"/>
                </a:solidFill>
                <a:latin typeface="Arial" panose="020B0604020202020204" pitchFamily="34" charset="0"/>
              </a:rPr>
              <a:t>Smart Biometric Attendance, BPI Payroll &amp; Enterprise Solutions</a:t>
            </a:r>
          </a:p>
          <a:p>
            <a:r>
              <a:rPr lang="en-US" sz="2000" b="1">
                <a:solidFill>
                  <a:srgbClr val="FFFFFF"/>
                </a:solidFill>
                <a:latin typeface="Arial" panose="020B0604020202020204" pitchFamily="34" charset="0"/>
              </a:rPr>
              <a:t>Executive Demonstration for Salon Leadership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737EFDF-8AAC-12C7-9378-96834EF09FEF}"/>
              </a:ext>
            </a:extLst>
          </p:cNvPr>
          <p:cNvSpPr txBox="1"/>
          <p:nvPr/>
        </p:nvSpPr>
        <p:spPr>
          <a:xfrm>
            <a:off x="1270000" y="3429000"/>
            <a:ext cx="10033000" cy="892552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300">
                <a:solidFill>
                  <a:srgbClr val="D2D2D2"/>
                </a:solidFill>
                <a:latin typeface="Arial" panose="020B0604020202020204" pitchFamily="34" charset="0"/>
              </a:rPr>
              <a:t>Target Deployment: Centrio (Waxing &amp; Nails), Ketkai, SM Downtown</a:t>
            </a:r>
          </a:p>
          <a:p>
            <a:r>
              <a:rPr lang="en-US" sz="1300">
                <a:solidFill>
                  <a:srgbClr val="D2D2D2"/>
                </a:solidFill>
                <a:latin typeface="Arial" panose="020B0604020202020204" pitchFamily="34" charset="0"/>
              </a:rPr>
              <a:t>Live Application URL: https://alrajj-legacy.vercel.app</a:t>
            </a:r>
          </a:p>
          <a:p>
            <a:r>
              <a:rPr lang="en-US" sz="1300">
                <a:solidFill>
                  <a:srgbClr val="D2D2D2"/>
                </a:solidFill>
                <a:latin typeface="Arial" panose="020B0604020202020204" pitchFamily="34" charset="0"/>
              </a:rPr>
              <a:t>Prepared for: Ms. Jehan Abedin, General Manager</a:t>
            </a:r>
          </a:p>
          <a:p>
            <a:r>
              <a:rPr lang="en-US" sz="1300">
                <a:solidFill>
                  <a:srgbClr val="D2D2D2"/>
                </a:solidFill>
                <a:latin typeface="Arial" panose="020B0604020202020204" pitchFamily="34" charset="0"/>
              </a:rPr>
              <a:t>Presented by: Jason Velasquez (VP) &amp; SETHCON Technologies Inc.</a:t>
            </a:r>
          </a:p>
        </p:txBody>
      </p:sp>
    </p:spTree>
    <p:extLst>
      <p:ext uri="{BB962C8B-B14F-4D97-AF65-F5344CB8AC3E}">
        <p14:creationId xmlns:p14="http://schemas.microsoft.com/office/powerpoint/2010/main" val="424040842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624F409A-FE02-D976-D985-51A68A762F34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AF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DD3904F-918D-51BB-D140-B340F09887DC}"/>
              </a:ext>
            </a:extLst>
          </p:cNvPr>
          <p:cNvSpPr txBox="1"/>
          <p:nvPr/>
        </p:nvSpPr>
        <p:spPr>
          <a:xfrm>
            <a:off x="635000" y="444500"/>
            <a:ext cx="10922000" cy="46166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400" b="1">
                <a:solidFill>
                  <a:srgbClr val="031134"/>
                </a:solidFill>
                <a:latin typeface="Arial" panose="020B0604020202020204" pitchFamily="34" charset="0"/>
              </a:rPr>
              <a:t>Technology Partner Profile: SETHCON Technologies Inc.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3E5AB81-5461-CC5F-CC14-D1F0EDDCDEB4}"/>
              </a:ext>
            </a:extLst>
          </p:cNvPr>
          <p:cNvSpPr txBox="1"/>
          <p:nvPr/>
        </p:nvSpPr>
        <p:spPr>
          <a:xfrm>
            <a:off x="635000" y="952500"/>
            <a:ext cx="10922000" cy="292388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300">
                <a:solidFill>
                  <a:srgbClr val="1E293B"/>
                </a:solidFill>
                <a:latin typeface="Arial" panose="020B0604020202020204" pitchFamily="34" charset="0"/>
              </a:rPr>
              <a:t>End-to-End Solutions for Retail, Salons &amp; Multi-Branch Enterprise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F6AF385-647A-90D5-C089-C63279156C69}"/>
              </a:ext>
            </a:extLst>
          </p:cNvPr>
          <p:cNvSpPr/>
          <p:nvPr/>
        </p:nvSpPr>
        <p:spPr>
          <a:xfrm>
            <a:off x="635000" y="1397000"/>
            <a:ext cx="2540000" cy="4699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CE6E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7C9E3E7-6C15-7812-0DD0-96B0A12EDF58}"/>
              </a:ext>
            </a:extLst>
          </p:cNvPr>
          <p:cNvSpPr txBox="1"/>
          <p:nvPr/>
        </p:nvSpPr>
        <p:spPr>
          <a:xfrm>
            <a:off x="762000" y="1524000"/>
            <a:ext cx="2286000" cy="2677656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200">
                <a:solidFill>
                  <a:srgbClr val="1E293B"/>
                </a:solidFill>
                <a:latin typeface="Arial" panose="020B0604020202020204" pitchFamily="34" charset="0"/>
              </a:rPr>
              <a:t>OFFICIAL PROFILE</a:t>
            </a:r>
          </a:p>
          <a:p>
            <a:endParaRPr lang="en-US" sz="1200">
              <a:solidFill>
                <a:srgbClr val="1E293B"/>
              </a:solidFill>
              <a:latin typeface="Arial" panose="020B0604020202020204" pitchFamily="34" charset="0"/>
            </a:endParaRPr>
          </a:p>
          <a:p>
            <a:r>
              <a:rPr lang="en-US" sz="1200">
                <a:solidFill>
                  <a:srgbClr val="1E293B"/>
                </a:solidFill>
                <a:latin typeface="Arial" panose="020B0604020202020204" pitchFamily="34" charset="0"/>
              </a:rPr>
              <a:t>* Systems Engineering &amp; Custom Architecture.</a:t>
            </a:r>
          </a:p>
          <a:p>
            <a:endParaRPr lang="en-US" sz="1200">
              <a:solidFill>
                <a:srgbClr val="1E293B"/>
              </a:solidFill>
              <a:latin typeface="Arial" panose="020B0604020202020204" pitchFamily="34" charset="0"/>
            </a:endParaRPr>
          </a:p>
          <a:p>
            <a:r>
              <a:rPr lang="en-US" sz="1200">
                <a:solidFill>
                  <a:srgbClr val="1E293B"/>
                </a:solidFill>
                <a:latin typeface="Arial" panose="020B0604020202020204" pitchFamily="34" charset="0"/>
              </a:rPr>
              <a:t>* Custom Biometric HRMS &amp; Payroll for Lay Bare branches.</a:t>
            </a:r>
          </a:p>
          <a:p>
            <a:endParaRPr lang="en-US" sz="1200">
              <a:solidFill>
                <a:srgbClr val="1E293B"/>
              </a:solidFill>
              <a:latin typeface="Arial" panose="020B0604020202020204" pitchFamily="34" charset="0"/>
            </a:endParaRPr>
          </a:p>
          <a:p>
            <a:r>
              <a:rPr lang="en-US" sz="1200">
                <a:solidFill>
                  <a:srgbClr val="1E293B"/>
                </a:solidFill>
                <a:latin typeface="Arial" panose="020B0604020202020204" pitchFamily="34" charset="0"/>
              </a:rPr>
              <a:t>* Official Company Profile:</a:t>
            </a:r>
          </a:p>
          <a:p>
            <a:r>
              <a:rPr lang="en-US" sz="1200">
                <a:solidFill>
                  <a:srgbClr val="1E293B"/>
                </a:solidFill>
                <a:latin typeface="Arial" panose="020B0604020202020204" pitchFamily="34" charset="0"/>
              </a:rPr>
              <a:t>  https://drive.google.com/file/d/12qG_EbC35yH9k9Bl0uDCGp7shh1mfQ0B/view?usp=sharing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1BB7063-CA1E-341D-29EC-03D26B272017}"/>
              </a:ext>
            </a:extLst>
          </p:cNvPr>
          <p:cNvSpPr/>
          <p:nvPr/>
        </p:nvSpPr>
        <p:spPr>
          <a:xfrm>
            <a:off x="3365500" y="1397000"/>
            <a:ext cx="2540000" cy="4699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CE6E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79E8623-8B74-14DC-A0AA-684FC5123395}"/>
              </a:ext>
            </a:extLst>
          </p:cNvPr>
          <p:cNvSpPr txBox="1"/>
          <p:nvPr/>
        </p:nvSpPr>
        <p:spPr>
          <a:xfrm>
            <a:off x="3492500" y="1524000"/>
            <a:ext cx="2286000" cy="249299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200">
                <a:solidFill>
                  <a:srgbClr val="1E293B"/>
                </a:solidFill>
                <a:latin typeface="Arial" panose="020B0604020202020204" pitchFamily="34" charset="0"/>
              </a:rPr>
              <a:t>SALON CRM &amp; LOYALTY</a:t>
            </a:r>
          </a:p>
          <a:p>
            <a:endParaRPr lang="en-US" sz="1200">
              <a:solidFill>
                <a:srgbClr val="1E293B"/>
              </a:solidFill>
              <a:latin typeface="Arial" panose="020B0604020202020204" pitchFamily="34" charset="0"/>
            </a:endParaRPr>
          </a:p>
          <a:p>
            <a:r>
              <a:rPr lang="en-US" sz="1200">
                <a:solidFill>
                  <a:srgbClr val="1E293B"/>
                </a:solidFill>
                <a:latin typeface="Arial" panose="020B0604020202020204" pitchFamily="34" charset="0"/>
              </a:rPr>
              <a:t>* Complete Customer History &amp; technician notes.</a:t>
            </a:r>
          </a:p>
          <a:p>
            <a:endParaRPr lang="en-US" sz="1200">
              <a:solidFill>
                <a:srgbClr val="1E293B"/>
              </a:solidFill>
              <a:latin typeface="Arial" panose="020B0604020202020204" pitchFamily="34" charset="0"/>
            </a:endParaRPr>
          </a:p>
          <a:p>
            <a:r>
              <a:rPr lang="en-US" sz="1200">
                <a:solidFill>
                  <a:srgbClr val="1E293B"/>
                </a:solidFill>
                <a:latin typeface="Arial" panose="020B0604020202020204" pitchFamily="34" charset="0"/>
              </a:rPr>
              <a:t>* Online Booking &amp; SMS confirmations.</a:t>
            </a:r>
          </a:p>
          <a:p>
            <a:endParaRPr lang="en-US" sz="1200">
              <a:solidFill>
                <a:srgbClr val="1E293B"/>
              </a:solidFill>
              <a:latin typeface="Arial" panose="020B0604020202020204" pitchFamily="34" charset="0"/>
            </a:endParaRPr>
          </a:p>
          <a:p>
            <a:r>
              <a:rPr lang="en-US" sz="1200">
                <a:solidFill>
                  <a:srgbClr val="1E293B"/>
                </a:solidFill>
                <a:latin typeface="Arial" panose="020B0604020202020204" pitchFamily="34" charset="0"/>
              </a:rPr>
              <a:t>* Loyalty packages &amp; multi-branch redemptions.</a:t>
            </a:r>
          </a:p>
          <a:p>
            <a:endParaRPr lang="en-US" sz="1200">
              <a:solidFill>
                <a:srgbClr val="1E293B"/>
              </a:solidFill>
              <a:latin typeface="Arial" panose="020B0604020202020204" pitchFamily="34" charset="0"/>
            </a:endParaRPr>
          </a:p>
          <a:p>
            <a:r>
              <a:rPr lang="en-US" sz="1200">
                <a:solidFill>
                  <a:srgbClr val="1E293B"/>
                </a:solidFill>
                <a:latin typeface="Arial" panose="020B0604020202020204" pitchFamily="34" charset="0"/>
              </a:rPr>
              <a:t>* Technician commission tracking.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1919977-6C17-B23A-BF27-4C572A12E451}"/>
              </a:ext>
            </a:extLst>
          </p:cNvPr>
          <p:cNvSpPr/>
          <p:nvPr/>
        </p:nvSpPr>
        <p:spPr>
          <a:xfrm>
            <a:off x="6096000" y="1397000"/>
            <a:ext cx="2730500" cy="4699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CE6E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887D83B-3216-A679-B8D3-809293C19454}"/>
              </a:ext>
            </a:extLst>
          </p:cNvPr>
          <p:cNvSpPr txBox="1"/>
          <p:nvPr/>
        </p:nvSpPr>
        <p:spPr>
          <a:xfrm>
            <a:off x="6223000" y="1524000"/>
            <a:ext cx="2476500" cy="1754326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200">
                <a:solidFill>
                  <a:srgbClr val="1E293B"/>
                </a:solidFill>
                <a:latin typeface="Arial" panose="020B0604020202020204" pitchFamily="34" charset="0"/>
              </a:rPr>
              <a:t>PO TO ACCOUNTING</a:t>
            </a:r>
          </a:p>
          <a:p>
            <a:endParaRPr lang="en-US" sz="1200">
              <a:solidFill>
                <a:srgbClr val="1E293B"/>
              </a:solidFill>
              <a:latin typeface="Arial" panose="020B0604020202020204" pitchFamily="34" charset="0"/>
            </a:endParaRPr>
          </a:p>
          <a:p>
            <a:r>
              <a:rPr lang="en-US" sz="1200">
                <a:solidFill>
                  <a:srgbClr val="1E293B"/>
                </a:solidFill>
                <a:latin typeface="Arial" panose="020B0604020202020204" pitchFamily="34" charset="0"/>
              </a:rPr>
              <a:t>* 5-Step Procurement:</a:t>
            </a:r>
          </a:p>
          <a:p>
            <a:r>
              <a:rPr lang="en-US" sz="1200">
                <a:solidFill>
                  <a:srgbClr val="1E293B"/>
                </a:solidFill>
                <a:latin typeface="Arial" panose="020B0604020202020204" pitchFamily="34" charset="0"/>
              </a:rPr>
              <a:t>  1. Store Requisition</a:t>
            </a:r>
          </a:p>
          <a:p>
            <a:r>
              <a:rPr lang="en-US" sz="1200">
                <a:solidFill>
                  <a:srgbClr val="1E293B"/>
                </a:solidFill>
                <a:latin typeface="Arial" panose="020B0604020202020204" pitchFamily="34" charset="0"/>
              </a:rPr>
              <a:t>  2. Vendor RFQ / Quotes</a:t>
            </a:r>
          </a:p>
          <a:p>
            <a:r>
              <a:rPr lang="en-US" sz="1200">
                <a:solidFill>
                  <a:srgbClr val="1E293B"/>
                </a:solidFill>
                <a:latin typeface="Arial" panose="020B0604020202020204" pitchFamily="34" charset="0"/>
              </a:rPr>
              <a:t>  3. PO Approval</a:t>
            </a:r>
          </a:p>
          <a:p>
            <a:r>
              <a:rPr lang="en-US" sz="1200">
                <a:solidFill>
                  <a:srgbClr val="1E293B"/>
                </a:solidFill>
                <a:latin typeface="Arial" panose="020B0604020202020204" pitchFamily="34" charset="0"/>
              </a:rPr>
              <a:t>  4. Goods Receiving</a:t>
            </a:r>
          </a:p>
          <a:p>
            <a:r>
              <a:rPr lang="en-US" sz="1200">
                <a:solidFill>
                  <a:srgbClr val="1E293B"/>
                </a:solidFill>
                <a:latin typeface="Arial" panose="020B0604020202020204" pitchFamily="34" charset="0"/>
              </a:rPr>
              <a:t>  5. 3-Way Match directly to Accounting AP &amp; Ledger.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AEE1C53-A166-40B4-051F-5DFEACE7A04D}"/>
              </a:ext>
            </a:extLst>
          </p:cNvPr>
          <p:cNvSpPr/>
          <p:nvPr/>
        </p:nvSpPr>
        <p:spPr>
          <a:xfrm>
            <a:off x="9017000" y="1397000"/>
            <a:ext cx="2540000" cy="4699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CE6E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E41F221-9FA4-8B82-C170-1D3F4F513E5B}"/>
              </a:ext>
            </a:extLst>
          </p:cNvPr>
          <p:cNvSpPr txBox="1"/>
          <p:nvPr/>
        </p:nvSpPr>
        <p:spPr>
          <a:xfrm>
            <a:off x="9144000" y="1524000"/>
            <a:ext cx="2286000" cy="230832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200">
                <a:solidFill>
                  <a:srgbClr val="1E293B"/>
                </a:solidFill>
                <a:latin typeface="Arial" panose="020B0604020202020204" pitchFamily="34" charset="0"/>
              </a:rPr>
              <a:t>POS &amp; INVENTORY</a:t>
            </a:r>
          </a:p>
          <a:p>
            <a:endParaRPr lang="en-US" sz="1200">
              <a:solidFill>
                <a:srgbClr val="1E293B"/>
              </a:solidFill>
              <a:latin typeface="Arial" panose="020B0604020202020204" pitchFamily="34" charset="0"/>
            </a:endParaRPr>
          </a:p>
          <a:p>
            <a:r>
              <a:rPr lang="en-US" sz="1200">
                <a:solidFill>
                  <a:srgbClr val="1E293B"/>
                </a:solidFill>
                <a:latin typeface="Arial" panose="020B0604020202020204" pitchFamily="34" charset="0"/>
              </a:rPr>
              <a:t>* Live multi-branch revenue tracking.</a:t>
            </a:r>
          </a:p>
          <a:p>
            <a:endParaRPr lang="en-US" sz="1200">
              <a:solidFill>
                <a:srgbClr val="1E293B"/>
              </a:solidFill>
              <a:latin typeface="Arial" panose="020B0604020202020204" pitchFamily="34" charset="0"/>
            </a:endParaRPr>
          </a:p>
          <a:p>
            <a:r>
              <a:rPr lang="en-US" sz="1200">
                <a:solidFill>
                  <a:srgbClr val="1E293B"/>
                </a:solidFill>
                <a:latin typeface="Arial" panose="020B0604020202020204" pitchFamily="34" charset="0"/>
              </a:rPr>
              <a:t>* Stock depletion &amp; automatic reorder alerts.</a:t>
            </a:r>
          </a:p>
          <a:p>
            <a:endParaRPr lang="en-US" sz="1200">
              <a:solidFill>
                <a:srgbClr val="1E293B"/>
              </a:solidFill>
              <a:latin typeface="Arial" panose="020B0604020202020204" pitchFamily="34" charset="0"/>
            </a:endParaRPr>
          </a:p>
          <a:p>
            <a:r>
              <a:rPr lang="en-US" sz="1200">
                <a:solidFill>
                  <a:srgbClr val="1E293B"/>
                </a:solidFill>
                <a:latin typeface="Arial" panose="020B0604020202020204" pitchFamily="34" charset="0"/>
              </a:rPr>
              <a:t>* Centralized price &amp; service catalog.</a:t>
            </a:r>
          </a:p>
          <a:p>
            <a:endParaRPr lang="en-US" sz="1200">
              <a:solidFill>
                <a:srgbClr val="1E293B"/>
              </a:solidFill>
              <a:latin typeface="Arial" panose="020B0604020202020204" pitchFamily="34" charset="0"/>
            </a:endParaRPr>
          </a:p>
          <a:p>
            <a:r>
              <a:rPr lang="en-US" sz="1200">
                <a:solidFill>
                  <a:srgbClr val="1E293B"/>
                </a:solidFill>
                <a:latin typeface="Arial" panose="020B0604020202020204" pitchFamily="34" charset="0"/>
              </a:rPr>
              <a:t>* Shrinkage &amp; loss prevention.</a:t>
            </a:r>
          </a:p>
        </p:txBody>
      </p:sp>
    </p:spTree>
    <p:extLst>
      <p:ext uri="{BB962C8B-B14F-4D97-AF65-F5344CB8AC3E}">
        <p14:creationId xmlns:p14="http://schemas.microsoft.com/office/powerpoint/2010/main" val="196330080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6C62398-6EB9-DE10-9E84-BA8085BB13CB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AF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9F06373-65F5-40F5-FAC5-25519DC92627}"/>
              </a:ext>
            </a:extLst>
          </p:cNvPr>
          <p:cNvSpPr txBox="1"/>
          <p:nvPr/>
        </p:nvSpPr>
        <p:spPr>
          <a:xfrm>
            <a:off x="635000" y="508000"/>
            <a:ext cx="10922000" cy="4770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500" b="1">
                <a:solidFill>
                  <a:srgbClr val="031134"/>
                </a:solidFill>
                <a:latin typeface="Arial" panose="020B0604020202020204" pitchFamily="34" charset="0"/>
              </a:rPr>
              <a:t>The Current Reality: The 2-Day Payroll Bottleneck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837D741-6125-B455-61C6-D7DFE4106D56}"/>
              </a:ext>
            </a:extLst>
          </p:cNvPr>
          <p:cNvSpPr/>
          <p:nvPr/>
        </p:nvSpPr>
        <p:spPr>
          <a:xfrm>
            <a:off x="635000" y="1397000"/>
            <a:ext cx="3429000" cy="457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CE6E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8F96C22-6FE3-F457-D2F7-97FE714641BE}"/>
              </a:ext>
            </a:extLst>
          </p:cNvPr>
          <p:cNvSpPr txBox="1"/>
          <p:nvPr/>
        </p:nvSpPr>
        <p:spPr>
          <a:xfrm>
            <a:off x="825500" y="1587500"/>
            <a:ext cx="3048000" cy="2292935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300">
                <a:solidFill>
                  <a:srgbClr val="1E293B"/>
                </a:solidFill>
                <a:latin typeface="Arial" panose="020B0604020202020204" pitchFamily="34" charset="0"/>
              </a:rPr>
              <a:t>TIME CONSUMING</a:t>
            </a:r>
          </a:p>
          <a:p>
            <a:endParaRPr lang="en-US" sz="1300">
              <a:solidFill>
                <a:srgbClr val="1E293B"/>
              </a:solidFill>
              <a:latin typeface="Arial" panose="020B0604020202020204" pitchFamily="34" charset="0"/>
            </a:endParaRPr>
          </a:p>
          <a:p>
            <a:r>
              <a:rPr lang="en-US" sz="1300">
                <a:solidFill>
                  <a:srgbClr val="1E293B"/>
                </a:solidFill>
                <a:latin typeface="Arial" panose="020B0604020202020204" pitchFamily="34" charset="0"/>
              </a:rPr>
              <a:t>* Takes 2 whole working days per cutoff to compute hours by hand.</a:t>
            </a:r>
          </a:p>
          <a:p>
            <a:endParaRPr lang="en-US" sz="1300">
              <a:solidFill>
                <a:srgbClr val="1E293B"/>
              </a:solidFill>
              <a:latin typeface="Arial" panose="020B0604020202020204" pitchFamily="34" charset="0"/>
            </a:endParaRPr>
          </a:p>
          <a:p>
            <a:r>
              <a:rPr lang="en-US" sz="1300">
                <a:solidFill>
                  <a:srgbClr val="1E293B"/>
                </a:solidFill>
                <a:latin typeface="Arial" panose="020B0604020202020204" pitchFamily="34" charset="0"/>
              </a:rPr>
              <a:t>* HR spends 16+ hours per month cross-referencing raw timesheets.</a:t>
            </a:r>
          </a:p>
          <a:p>
            <a:endParaRPr lang="en-US" sz="1300">
              <a:solidFill>
                <a:srgbClr val="1E293B"/>
              </a:solidFill>
              <a:latin typeface="Arial" panose="020B0604020202020204" pitchFamily="34" charset="0"/>
            </a:endParaRPr>
          </a:p>
          <a:p>
            <a:r>
              <a:rPr lang="en-US" sz="1300">
                <a:solidFill>
                  <a:srgbClr val="1E293B"/>
                </a:solidFill>
                <a:latin typeface="Arial" panose="020B0604020202020204" pitchFamily="34" charset="0"/>
              </a:rPr>
              <a:t>* Delays payroll release and pulls management away from core salon operations.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8A38FA6-D4AA-5D7A-F1EB-8302203CAD1A}"/>
              </a:ext>
            </a:extLst>
          </p:cNvPr>
          <p:cNvSpPr/>
          <p:nvPr/>
        </p:nvSpPr>
        <p:spPr>
          <a:xfrm>
            <a:off x="4381500" y="1397000"/>
            <a:ext cx="3429000" cy="457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CE6E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AF6B9D4-9956-18E5-1FBE-39B2737F3072}"/>
              </a:ext>
            </a:extLst>
          </p:cNvPr>
          <p:cNvSpPr txBox="1"/>
          <p:nvPr/>
        </p:nvSpPr>
        <p:spPr>
          <a:xfrm>
            <a:off x="4572000" y="1587500"/>
            <a:ext cx="3048000" cy="2292935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300">
                <a:solidFill>
                  <a:srgbClr val="1E293B"/>
                </a:solidFill>
                <a:latin typeface="Arial" panose="020B0604020202020204" pitchFamily="34" charset="0"/>
              </a:rPr>
              <a:t>PRONE TO ERRORS</a:t>
            </a:r>
          </a:p>
          <a:p>
            <a:endParaRPr lang="en-US" sz="1300">
              <a:solidFill>
                <a:srgbClr val="1E293B"/>
              </a:solidFill>
              <a:latin typeface="Arial" panose="020B0604020202020204" pitchFamily="34" charset="0"/>
            </a:endParaRPr>
          </a:p>
          <a:p>
            <a:r>
              <a:rPr lang="en-US" sz="1300">
                <a:solidFill>
                  <a:srgbClr val="1E293B"/>
                </a:solidFill>
                <a:latin typeface="Arial" panose="020B0604020202020204" pitchFamily="34" charset="0"/>
              </a:rPr>
              <a:t>* Manual math for:</a:t>
            </a:r>
          </a:p>
          <a:p>
            <a:r>
              <a:rPr lang="en-US" sz="1300">
                <a:solidFill>
                  <a:srgbClr val="1E293B"/>
                </a:solidFill>
                <a:latin typeface="Arial" panose="020B0604020202020204" pitchFamily="34" charset="0"/>
              </a:rPr>
              <a:t>  - 5-min grace periods</a:t>
            </a:r>
          </a:p>
          <a:p>
            <a:r>
              <a:rPr lang="en-US" sz="1300">
                <a:solidFill>
                  <a:srgbClr val="1E293B"/>
                </a:solidFill>
                <a:latin typeface="Arial" panose="020B0604020202020204" pitchFamily="34" charset="0"/>
              </a:rPr>
              <a:t>  - 10-min tardiness deductions</a:t>
            </a:r>
          </a:p>
          <a:p>
            <a:r>
              <a:rPr lang="en-US" sz="1300">
                <a:solidFill>
                  <a:srgbClr val="1E293B"/>
                </a:solidFill>
                <a:latin typeface="Arial" panose="020B0604020202020204" pitchFamily="34" charset="0"/>
              </a:rPr>
              <a:t>  - Overtime and Night Diffs</a:t>
            </a:r>
          </a:p>
          <a:p>
            <a:r>
              <a:rPr lang="en-US" sz="1300">
                <a:solidFill>
                  <a:srgbClr val="1E293B"/>
                </a:solidFill>
                <a:latin typeface="Arial" panose="020B0604020202020204" pitchFamily="34" charset="0"/>
              </a:rPr>
              <a:t>  - SSS, PhilHealth, Pag-IBIG</a:t>
            </a:r>
          </a:p>
          <a:p>
            <a:endParaRPr lang="en-US" sz="1300">
              <a:solidFill>
                <a:srgbClr val="1E293B"/>
              </a:solidFill>
              <a:latin typeface="Arial" panose="020B0604020202020204" pitchFamily="34" charset="0"/>
            </a:endParaRPr>
          </a:p>
          <a:p>
            <a:r>
              <a:rPr lang="en-US" sz="1300">
                <a:solidFill>
                  <a:srgbClr val="1E293B"/>
                </a:solidFill>
                <a:latin typeface="Arial" panose="020B0604020202020204" pitchFamily="34" charset="0"/>
              </a:rPr>
              <a:t>* Mathematical errors cause salary disputes and awkward payroll adjustments.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FDA6496-556E-8FDF-977B-60DD79AC231D}"/>
              </a:ext>
            </a:extLst>
          </p:cNvPr>
          <p:cNvSpPr/>
          <p:nvPr/>
        </p:nvSpPr>
        <p:spPr>
          <a:xfrm>
            <a:off x="8128000" y="1397000"/>
            <a:ext cx="3429000" cy="457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CE6E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20ACF0D-6686-6F15-F47A-9060659DA79A}"/>
              </a:ext>
            </a:extLst>
          </p:cNvPr>
          <p:cNvSpPr txBox="1"/>
          <p:nvPr/>
        </p:nvSpPr>
        <p:spPr>
          <a:xfrm>
            <a:off x="8318500" y="1587500"/>
            <a:ext cx="3048000" cy="2292935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300">
                <a:solidFill>
                  <a:srgbClr val="1E293B"/>
                </a:solidFill>
                <a:latin typeface="Arial" panose="020B0604020202020204" pitchFamily="34" charset="0"/>
              </a:rPr>
              <a:t>SCATTERED RECORDS</a:t>
            </a:r>
          </a:p>
          <a:p>
            <a:endParaRPr lang="en-US" sz="1300">
              <a:solidFill>
                <a:srgbClr val="1E293B"/>
              </a:solidFill>
              <a:latin typeface="Arial" panose="020B0604020202020204" pitchFamily="34" charset="0"/>
            </a:endParaRPr>
          </a:p>
          <a:p>
            <a:r>
              <a:rPr lang="en-US" sz="1300">
                <a:solidFill>
                  <a:srgbClr val="1E293B"/>
                </a:solidFill>
                <a:latin typeface="Arial" panose="020B0604020202020204" pitchFamily="34" charset="0"/>
              </a:rPr>
              <a:t>* Biometric files scattered across USB sticks and loose Excel files.</a:t>
            </a:r>
          </a:p>
          <a:p>
            <a:endParaRPr lang="en-US" sz="1300">
              <a:solidFill>
                <a:srgbClr val="1E293B"/>
              </a:solidFill>
              <a:latin typeface="Arial" panose="020B0604020202020204" pitchFamily="34" charset="0"/>
            </a:endParaRPr>
          </a:p>
          <a:p>
            <a:r>
              <a:rPr lang="en-US" sz="1300">
                <a:solidFill>
                  <a:srgbClr val="1E293B"/>
                </a:solidFill>
                <a:latin typeface="Arial" panose="020B0604020202020204" pitchFamily="34" charset="0"/>
              </a:rPr>
              <a:t>* No automated tracking of missing OUT punches or shift anomalies.</a:t>
            </a:r>
          </a:p>
          <a:p>
            <a:endParaRPr lang="en-US" sz="1300">
              <a:solidFill>
                <a:srgbClr val="1E293B"/>
              </a:solidFill>
              <a:latin typeface="Arial" panose="020B0604020202020204" pitchFamily="34" charset="0"/>
            </a:endParaRPr>
          </a:p>
          <a:p>
            <a:r>
              <a:rPr lang="en-US" sz="1300">
                <a:solidFill>
                  <a:srgbClr val="1E293B"/>
                </a:solidFill>
                <a:latin typeface="Arial" panose="020B0604020202020204" pitchFamily="34" charset="0"/>
              </a:rPr>
              <a:t>* Habitual tardiness goes untracked without formal Notice to Explain (NTE) compliance.</a:t>
            </a:r>
          </a:p>
        </p:txBody>
      </p:sp>
    </p:spTree>
    <p:extLst>
      <p:ext uri="{BB962C8B-B14F-4D97-AF65-F5344CB8AC3E}">
        <p14:creationId xmlns:p14="http://schemas.microsoft.com/office/powerpoint/2010/main" val="323537271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53C6A790-5E7C-AA67-E200-3B4B4BCB8349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3113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C21E4F2-E7C6-81CD-C98C-2478A986358B}"/>
              </a:ext>
            </a:extLst>
          </p:cNvPr>
          <p:cNvSpPr txBox="1"/>
          <p:nvPr/>
        </p:nvSpPr>
        <p:spPr>
          <a:xfrm>
            <a:off x="635000" y="508000"/>
            <a:ext cx="10922000" cy="4770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500" b="1">
                <a:solidFill>
                  <a:srgbClr val="D4AF37"/>
                </a:solidFill>
                <a:latin typeface="Arial" panose="020B0604020202020204" pitchFamily="34" charset="0"/>
              </a:rPr>
              <a:t>The Solution: Custom Smart Biometric HRMS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E0E275B-71CD-4218-AE06-2C72215A802C}"/>
              </a:ext>
            </a:extLst>
          </p:cNvPr>
          <p:cNvSpPr txBox="1"/>
          <p:nvPr/>
        </p:nvSpPr>
        <p:spPr>
          <a:xfrm>
            <a:off x="635000" y="1143000"/>
            <a:ext cx="109220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400">
                <a:solidFill>
                  <a:srgbClr val="FFFFFF"/>
                </a:solidFill>
                <a:latin typeface="Arial" panose="020B0604020202020204" pitchFamily="34" charset="0"/>
              </a:rPr>
              <a:t>Transforms 2 Days of Manual Math into a 5-Minute Automated Workflow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F93FECE-F769-1646-B634-C101A742482C}"/>
              </a:ext>
            </a:extLst>
          </p:cNvPr>
          <p:cNvSpPr/>
          <p:nvPr/>
        </p:nvSpPr>
        <p:spPr>
          <a:xfrm>
            <a:off x="635000" y="1714500"/>
            <a:ext cx="2540000" cy="4381500"/>
          </a:xfrm>
          <a:prstGeom prst="rect">
            <a:avLst/>
          </a:prstGeom>
          <a:solidFill>
            <a:srgbClr val="0F1E4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CBB915C-6534-099B-C835-2FBFFF351B08}"/>
              </a:ext>
            </a:extLst>
          </p:cNvPr>
          <p:cNvSpPr txBox="1"/>
          <p:nvPr/>
        </p:nvSpPr>
        <p:spPr>
          <a:xfrm>
            <a:off x="825500" y="1905000"/>
            <a:ext cx="2159000" cy="156966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200">
                <a:solidFill>
                  <a:srgbClr val="FFFFFF"/>
                </a:solidFill>
                <a:latin typeface="Arial" panose="020B0604020202020204" pitchFamily="34" charset="0"/>
              </a:rPr>
              <a:t>1. NGTeco Ingestion</a:t>
            </a:r>
          </a:p>
          <a:p>
            <a:endParaRPr lang="en-US" sz="1200">
              <a:solidFill>
                <a:srgbClr val="FFFFFF"/>
              </a:solidFill>
              <a:latin typeface="Arial" panose="020B0604020202020204" pitchFamily="34" charset="0"/>
            </a:endParaRPr>
          </a:p>
          <a:p>
            <a:r>
              <a:rPr lang="en-US" sz="1200">
                <a:solidFill>
                  <a:srgbClr val="FFFFFF"/>
                </a:solidFill>
                <a:latin typeface="Arial" panose="020B0604020202020204" pitchFamily="34" charset="0"/>
              </a:rPr>
              <a:t>Drag and drop raw Excel files exported directly from branch biometric clocks.</a:t>
            </a:r>
          </a:p>
          <a:p>
            <a:endParaRPr lang="en-US" sz="1200">
              <a:solidFill>
                <a:srgbClr val="FFFFFF"/>
              </a:solidFill>
              <a:latin typeface="Arial" panose="020B0604020202020204" pitchFamily="34" charset="0"/>
            </a:endParaRPr>
          </a:p>
          <a:p>
            <a:r>
              <a:rPr lang="en-US" sz="1200">
                <a:solidFill>
                  <a:srgbClr val="FFFFFF"/>
                </a:solidFill>
                <a:latin typeface="Arial" panose="020B0604020202020204" pitchFamily="34" charset="0"/>
              </a:rPr>
              <a:t>Instant automatic punch log recognition and shift pairing.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E0F4F80-30C4-A4A0-DDFE-53E397CED00C}"/>
              </a:ext>
            </a:extLst>
          </p:cNvPr>
          <p:cNvSpPr/>
          <p:nvPr/>
        </p:nvSpPr>
        <p:spPr>
          <a:xfrm>
            <a:off x="3429000" y="1714500"/>
            <a:ext cx="2540000" cy="4381500"/>
          </a:xfrm>
          <a:prstGeom prst="rect">
            <a:avLst/>
          </a:prstGeom>
          <a:solidFill>
            <a:srgbClr val="0F1E4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A1EEE18-2025-C262-88CA-C42D2D3BF167}"/>
              </a:ext>
            </a:extLst>
          </p:cNvPr>
          <p:cNvSpPr txBox="1"/>
          <p:nvPr/>
        </p:nvSpPr>
        <p:spPr>
          <a:xfrm>
            <a:off x="3619500" y="1905000"/>
            <a:ext cx="2159000" cy="1754326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200">
                <a:solidFill>
                  <a:srgbClr val="FFFFFF"/>
                </a:solidFill>
                <a:latin typeface="Arial" panose="020B0604020202020204" pitchFamily="34" charset="0"/>
              </a:rPr>
              <a:t>2. Anomaly Engine</a:t>
            </a:r>
          </a:p>
          <a:p>
            <a:endParaRPr lang="en-US" sz="1200">
              <a:solidFill>
                <a:srgbClr val="FFFFFF"/>
              </a:solidFill>
              <a:latin typeface="Arial" panose="020B0604020202020204" pitchFamily="34" charset="0"/>
            </a:endParaRPr>
          </a:p>
          <a:p>
            <a:r>
              <a:rPr lang="en-US" sz="1200">
                <a:solidFill>
                  <a:srgbClr val="FFFFFF"/>
                </a:solidFill>
                <a:latin typeface="Arial" panose="020B0604020202020204" pitchFamily="34" charset="0"/>
              </a:rPr>
              <a:t>Automatically flags missed clock-outs, unpaired shifts, and late arrivals.</a:t>
            </a:r>
          </a:p>
          <a:p>
            <a:endParaRPr lang="en-US" sz="1200">
              <a:solidFill>
                <a:srgbClr val="FFFFFF"/>
              </a:solidFill>
              <a:latin typeface="Arial" panose="020B0604020202020204" pitchFamily="34" charset="0"/>
            </a:endParaRPr>
          </a:p>
          <a:p>
            <a:r>
              <a:rPr lang="en-US" sz="1200">
                <a:solidFill>
                  <a:srgbClr val="FFFFFF"/>
                </a:solidFill>
                <a:latin typeface="Arial" panose="020B0604020202020204" pitchFamily="34" charset="0"/>
              </a:rPr>
              <a:t>HR resolves exceptions in seconds with complete audit notes.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B688843-1097-6074-DD7E-40335F36D5FC}"/>
              </a:ext>
            </a:extLst>
          </p:cNvPr>
          <p:cNvSpPr/>
          <p:nvPr/>
        </p:nvSpPr>
        <p:spPr>
          <a:xfrm>
            <a:off x="6223000" y="1714500"/>
            <a:ext cx="2540000" cy="4381500"/>
          </a:xfrm>
          <a:prstGeom prst="rect">
            <a:avLst/>
          </a:prstGeom>
          <a:solidFill>
            <a:srgbClr val="0F1E4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B1ED959-E07A-4A33-7D50-BBE294B59E1C}"/>
              </a:ext>
            </a:extLst>
          </p:cNvPr>
          <p:cNvSpPr txBox="1"/>
          <p:nvPr/>
        </p:nvSpPr>
        <p:spPr>
          <a:xfrm>
            <a:off x="6413500" y="1905000"/>
            <a:ext cx="2159000" cy="1754326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200">
                <a:solidFill>
                  <a:srgbClr val="FFFFFF"/>
                </a:solidFill>
                <a:latin typeface="Arial" panose="020B0604020202020204" pitchFamily="34" charset="0"/>
              </a:rPr>
              <a:t>3. Automated NTE</a:t>
            </a:r>
          </a:p>
          <a:p>
            <a:endParaRPr lang="en-US" sz="1200">
              <a:solidFill>
                <a:srgbClr val="FFFFFF"/>
              </a:solidFill>
              <a:latin typeface="Arial" panose="020B0604020202020204" pitchFamily="34" charset="0"/>
            </a:endParaRPr>
          </a:p>
          <a:p>
            <a:r>
              <a:rPr lang="en-US" sz="1200">
                <a:solidFill>
                  <a:srgbClr val="FFFFFF"/>
                </a:solidFill>
                <a:latin typeface="Arial" panose="020B0604020202020204" pitchFamily="34" charset="0"/>
              </a:rPr>
              <a:t>Enforces 5-min grace and 10-min deduction rules.</a:t>
            </a:r>
          </a:p>
          <a:p>
            <a:endParaRPr lang="en-US" sz="1200">
              <a:solidFill>
                <a:srgbClr val="FFFFFF"/>
              </a:solidFill>
              <a:latin typeface="Arial" panose="020B0604020202020204" pitchFamily="34" charset="0"/>
            </a:endParaRPr>
          </a:p>
          <a:p>
            <a:r>
              <a:rPr lang="en-US" sz="1200">
                <a:solidFill>
                  <a:srgbClr val="FFFFFF"/>
                </a:solidFill>
                <a:latin typeface="Arial" panose="020B0604020202020204" pitchFamily="34" charset="0"/>
              </a:rPr>
              <a:t>Automatically detects 3+ late staff and generates ready-to-print Notice to Explain letters.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30FCCE8-CF7F-3E25-559A-3C38747F6C14}"/>
              </a:ext>
            </a:extLst>
          </p:cNvPr>
          <p:cNvSpPr/>
          <p:nvPr/>
        </p:nvSpPr>
        <p:spPr>
          <a:xfrm>
            <a:off x="9017000" y="1714500"/>
            <a:ext cx="2540000" cy="4381500"/>
          </a:xfrm>
          <a:prstGeom prst="rect">
            <a:avLst/>
          </a:prstGeom>
          <a:solidFill>
            <a:srgbClr val="0F1E4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EE4A262-37AA-AFD0-146B-0D2533F17F42}"/>
              </a:ext>
            </a:extLst>
          </p:cNvPr>
          <p:cNvSpPr txBox="1"/>
          <p:nvPr/>
        </p:nvSpPr>
        <p:spPr>
          <a:xfrm>
            <a:off x="9207500" y="1905000"/>
            <a:ext cx="2159000" cy="1938992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200">
                <a:solidFill>
                  <a:srgbClr val="FFFFFF"/>
                </a:solidFill>
                <a:latin typeface="Arial" panose="020B0604020202020204" pitchFamily="34" charset="0"/>
              </a:rPr>
              <a:t>4. 1-Click Gross-to-Net</a:t>
            </a:r>
          </a:p>
          <a:p>
            <a:endParaRPr lang="en-US" sz="1200">
              <a:solidFill>
                <a:srgbClr val="FFFFFF"/>
              </a:solidFill>
              <a:latin typeface="Arial" panose="020B0604020202020204" pitchFamily="34" charset="0"/>
            </a:endParaRPr>
          </a:p>
          <a:p>
            <a:r>
              <a:rPr lang="en-US" sz="1200">
                <a:solidFill>
                  <a:srgbClr val="FFFFFF"/>
                </a:solidFill>
                <a:latin typeface="Arial" panose="020B0604020202020204" pitchFamily="34" charset="0"/>
              </a:rPr>
              <a:t>Computes Basic Pay, Overtime, Night Diff, SSS, PhilHealth, Pag-IBIG in 1 second.</a:t>
            </a:r>
          </a:p>
          <a:p>
            <a:endParaRPr lang="en-US" sz="1200">
              <a:solidFill>
                <a:srgbClr val="FFFFFF"/>
              </a:solidFill>
              <a:latin typeface="Arial" panose="020B0604020202020204" pitchFamily="34" charset="0"/>
            </a:endParaRPr>
          </a:p>
          <a:p>
            <a:r>
              <a:rPr lang="en-US" sz="1200">
                <a:solidFill>
                  <a:srgbClr val="FFFFFF"/>
                </a:solidFill>
                <a:latin typeface="Arial" panose="020B0604020202020204" pitchFamily="34" charset="0"/>
              </a:rPr>
              <a:t>Generates printable itemized payslips with your company logo.</a:t>
            </a:r>
          </a:p>
        </p:txBody>
      </p:sp>
    </p:spTree>
    <p:extLst>
      <p:ext uri="{BB962C8B-B14F-4D97-AF65-F5344CB8AC3E}">
        <p14:creationId xmlns:p14="http://schemas.microsoft.com/office/powerpoint/2010/main" val="371952169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265EF12-4C15-21A2-DD70-AC5E31F35BD8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AF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290BE0C-FAFB-6FC5-0274-F3F15C07DEA7}"/>
              </a:ext>
            </a:extLst>
          </p:cNvPr>
          <p:cNvSpPr txBox="1"/>
          <p:nvPr/>
        </p:nvSpPr>
        <p:spPr>
          <a:xfrm>
            <a:off x="635000" y="508000"/>
            <a:ext cx="10922000" cy="4770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500" b="1">
                <a:solidFill>
                  <a:srgbClr val="031134"/>
                </a:solidFill>
                <a:latin typeface="Arial" panose="020B0604020202020204" pitchFamily="34" charset="0"/>
              </a:rPr>
              <a:t>One Centralized Hub for All Salon Branch Operations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21DB469-0A2C-157C-39C8-38A2DC20EBCB}"/>
              </a:ext>
            </a:extLst>
          </p:cNvPr>
          <p:cNvSpPr/>
          <p:nvPr/>
        </p:nvSpPr>
        <p:spPr>
          <a:xfrm>
            <a:off x="635000" y="1397000"/>
            <a:ext cx="5207000" cy="457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CE6E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AA3F216-EA07-23D9-6E9E-1BFA446265B3}"/>
              </a:ext>
            </a:extLst>
          </p:cNvPr>
          <p:cNvSpPr txBox="1"/>
          <p:nvPr/>
        </p:nvSpPr>
        <p:spPr>
          <a:xfrm>
            <a:off x="889000" y="1587500"/>
            <a:ext cx="4699000" cy="309315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300">
                <a:solidFill>
                  <a:srgbClr val="1E293B"/>
                </a:solidFill>
                <a:latin typeface="Arial" panose="020B0604020202020204" pitchFamily="34" charset="0"/>
              </a:rPr>
              <a:t>CURRENT ACTIVE LOCATIONS</a:t>
            </a:r>
          </a:p>
          <a:p>
            <a:endParaRPr lang="en-US" sz="1300">
              <a:solidFill>
                <a:srgbClr val="1E293B"/>
              </a:solidFill>
              <a:latin typeface="Arial" panose="020B0604020202020204" pitchFamily="34" charset="0"/>
            </a:endParaRPr>
          </a:p>
          <a:p>
            <a:r>
              <a:rPr lang="en-US" sz="1300">
                <a:solidFill>
                  <a:srgbClr val="1E293B"/>
                </a:solidFill>
                <a:latin typeface="Arial" panose="020B0604020202020204" pitchFamily="34" charset="0"/>
              </a:rPr>
              <a:t>1. Centrio Mall Branch</a:t>
            </a:r>
          </a:p>
          <a:p>
            <a:r>
              <a:rPr lang="en-US" sz="1300">
                <a:solidFill>
                  <a:srgbClr val="1E293B"/>
                </a:solidFill>
                <a:latin typeface="Arial" panose="020B0604020202020204" pitchFamily="34" charset="0"/>
              </a:rPr>
              <a:t>   - Waxing Salon operations</a:t>
            </a:r>
          </a:p>
          <a:p>
            <a:r>
              <a:rPr lang="en-US" sz="1300">
                <a:solidFill>
                  <a:srgbClr val="1E293B"/>
                </a:solidFill>
                <a:latin typeface="Arial" panose="020B0604020202020204" pitchFamily="34" charset="0"/>
              </a:rPr>
              <a:t>   - Passion Nails division</a:t>
            </a:r>
          </a:p>
          <a:p>
            <a:endParaRPr lang="en-US" sz="1300">
              <a:solidFill>
                <a:srgbClr val="1E293B"/>
              </a:solidFill>
              <a:latin typeface="Arial" panose="020B0604020202020204" pitchFamily="34" charset="0"/>
            </a:endParaRPr>
          </a:p>
          <a:p>
            <a:r>
              <a:rPr lang="en-US" sz="1300">
                <a:solidFill>
                  <a:srgbClr val="1E293B"/>
                </a:solidFill>
                <a:latin typeface="Arial" panose="020B0604020202020204" pitchFamily="34" charset="0"/>
              </a:rPr>
              <a:t>2. Limketkai Mall (Ketkai) Branch</a:t>
            </a:r>
          </a:p>
          <a:p>
            <a:r>
              <a:rPr lang="en-US" sz="1300">
                <a:solidFill>
                  <a:srgbClr val="1E293B"/>
                </a:solidFill>
                <a:latin typeface="Arial" panose="020B0604020202020204" pitchFamily="34" charset="0"/>
              </a:rPr>
              <a:t>   - Dedicated salon technicians and desk staff</a:t>
            </a:r>
          </a:p>
          <a:p>
            <a:endParaRPr lang="en-US" sz="1300">
              <a:solidFill>
                <a:srgbClr val="1E293B"/>
              </a:solidFill>
              <a:latin typeface="Arial" panose="020B0604020202020204" pitchFamily="34" charset="0"/>
            </a:endParaRPr>
          </a:p>
          <a:p>
            <a:r>
              <a:rPr lang="en-US" sz="1300">
                <a:solidFill>
                  <a:srgbClr val="1E293B"/>
                </a:solidFill>
                <a:latin typeface="Arial" panose="020B0604020202020204" pitchFamily="34" charset="0"/>
              </a:rPr>
              <a:t>3. SM Downtown Branch</a:t>
            </a:r>
          </a:p>
          <a:p>
            <a:r>
              <a:rPr lang="en-US" sz="1300">
                <a:solidFill>
                  <a:srgbClr val="1E293B"/>
                </a:solidFill>
                <a:latin typeface="Arial" panose="020B0604020202020204" pitchFamily="34" charset="0"/>
              </a:rPr>
              <a:t>   - High-traffic mall operations</a:t>
            </a:r>
          </a:p>
          <a:p>
            <a:endParaRPr lang="en-US" sz="1300">
              <a:solidFill>
                <a:srgbClr val="1E293B"/>
              </a:solidFill>
              <a:latin typeface="Arial" panose="020B0604020202020204" pitchFamily="34" charset="0"/>
            </a:endParaRPr>
          </a:p>
          <a:p>
            <a:r>
              <a:rPr lang="en-US" sz="1300">
                <a:solidFill>
                  <a:srgbClr val="1E293B"/>
                </a:solidFill>
                <a:latin typeface="Arial" panose="020B0604020202020204" pitchFamily="34" charset="0"/>
              </a:rPr>
              <a:t>*Future-Ready Architecture:*</a:t>
            </a:r>
          </a:p>
          <a:p>
            <a:r>
              <a:rPr lang="en-US" sz="1300">
                <a:solidFill>
                  <a:srgbClr val="1E293B"/>
                </a:solidFill>
                <a:latin typeface="Arial" panose="020B0604020202020204" pitchFamily="34" charset="0"/>
              </a:rPr>
              <a:t>Seamlessly accommodates new branches (such as Iligan) whenever ready without restructuring.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EB6BA46-5165-1B16-A26F-BE076C40944A}"/>
              </a:ext>
            </a:extLst>
          </p:cNvPr>
          <p:cNvSpPr/>
          <p:nvPr/>
        </p:nvSpPr>
        <p:spPr>
          <a:xfrm>
            <a:off x="6223000" y="1397000"/>
            <a:ext cx="5334000" cy="457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CE6E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7681180-BA1D-22BD-147C-290568EF45F7}"/>
              </a:ext>
            </a:extLst>
          </p:cNvPr>
          <p:cNvSpPr txBox="1"/>
          <p:nvPr/>
        </p:nvSpPr>
        <p:spPr>
          <a:xfrm>
            <a:off x="6477000" y="1587500"/>
            <a:ext cx="4826000" cy="2693045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300">
                <a:solidFill>
                  <a:srgbClr val="1E293B"/>
                </a:solidFill>
                <a:latin typeface="Arial" panose="020B0604020202020204" pitchFamily="34" charset="0"/>
              </a:rPr>
              <a:t>CLOUD CONVENIENCE &amp; VISIBILITY</a:t>
            </a:r>
          </a:p>
          <a:p>
            <a:endParaRPr lang="en-US" sz="1300">
              <a:solidFill>
                <a:srgbClr val="1E293B"/>
              </a:solidFill>
              <a:latin typeface="Arial" panose="020B0604020202020204" pitchFamily="34" charset="0"/>
            </a:endParaRPr>
          </a:p>
          <a:p>
            <a:r>
              <a:rPr lang="en-US" sz="1300">
                <a:solidFill>
                  <a:srgbClr val="1E293B"/>
                </a:solidFill>
                <a:latin typeface="Arial" panose="020B0604020202020204" pitchFamily="34" charset="0"/>
              </a:rPr>
              <a:t>* Accessible 24/7 at: https://alrajj-legacy.vercel.app</a:t>
            </a:r>
          </a:p>
          <a:p>
            <a:endParaRPr lang="en-US" sz="1300">
              <a:solidFill>
                <a:srgbClr val="1E293B"/>
              </a:solidFill>
              <a:latin typeface="Arial" panose="020B0604020202020204" pitchFamily="34" charset="0"/>
            </a:endParaRPr>
          </a:p>
          <a:p>
            <a:r>
              <a:rPr lang="en-US" sz="1300">
                <a:solidFill>
                  <a:srgbClr val="1E293B"/>
                </a:solidFill>
                <a:latin typeface="Arial" panose="020B0604020202020204" pitchFamily="34" charset="0"/>
              </a:rPr>
              <a:t>* No Software to Install:</a:t>
            </a:r>
          </a:p>
          <a:p>
            <a:r>
              <a:rPr lang="en-US" sz="1300">
                <a:solidFill>
                  <a:srgbClr val="1E293B"/>
                </a:solidFill>
                <a:latin typeface="Arial" panose="020B0604020202020204" pitchFamily="34" charset="0"/>
              </a:rPr>
              <a:t>  Runs smoothly on any browser (Chrome, Edge, Safari, Mobile).</a:t>
            </a:r>
          </a:p>
          <a:p>
            <a:endParaRPr lang="en-US" sz="1300">
              <a:solidFill>
                <a:srgbClr val="1E293B"/>
              </a:solidFill>
              <a:latin typeface="Arial" panose="020B0604020202020204" pitchFamily="34" charset="0"/>
            </a:endParaRPr>
          </a:p>
          <a:p>
            <a:r>
              <a:rPr lang="en-US" sz="1300">
                <a:solidFill>
                  <a:srgbClr val="1E293B"/>
                </a:solidFill>
                <a:latin typeface="Arial" panose="020B0604020202020204" pitchFamily="34" charset="0"/>
              </a:rPr>
              <a:t>* Executive Oversight:</a:t>
            </a:r>
          </a:p>
          <a:p>
            <a:r>
              <a:rPr lang="en-US" sz="1300">
                <a:solidFill>
                  <a:srgbClr val="1E293B"/>
                </a:solidFill>
                <a:latin typeface="Arial" panose="020B0604020202020204" pitchFamily="34" charset="0"/>
              </a:rPr>
              <a:t>  General Manager and HR can inspect real-time attendance, exceptions, and payroll figures from any device, anywhere.</a:t>
            </a:r>
          </a:p>
          <a:p>
            <a:endParaRPr lang="en-US" sz="1300">
              <a:solidFill>
                <a:srgbClr val="1E293B"/>
              </a:solidFill>
              <a:latin typeface="Arial" panose="020B0604020202020204" pitchFamily="34" charset="0"/>
            </a:endParaRPr>
          </a:p>
          <a:p>
            <a:r>
              <a:rPr lang="en-US" sz="1300">
                <a:solidFill>
                  <a:srgbClr val="1E293B"/>
                </a:solidFill>
                <a:latin typeface="Arial" panose="020B0604020202020204" pitchFamily="34" charset="0"/>
              </a:rPr>
              <a:t>* Bank-grade data handling and secure cloud backups.</a:t>
            </a:r>
          </a:p>
        </p:txBody>
      </p:sp>
    </p:spTree>
    <p:extLst>
      <p:ext uri="{BB962C8B-B14F-4D97-AF65-F5344CB8AC3E}">
        <p14:creationId xmlns:p14="http://schemas.microsoft.com/office/powerpoint/2010/main" val="244335359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1851BF6-0BA6-52EB-021F-78FB60A256DD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3113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C42FF26-2BED-B342-F3D3-73915995AC40}"/>
              </a:ext>
            </a:extLst>
          </p:cNvPr>
          <p:cNvSpPr txBox="1"/>
          <p:nvPr/>
        </p:nvSpPr>
        <p:spPr>
          <a:xfrm>
            <a:off x="635000" y="444500"/>
            <a:ext cx="10922000" cy="46166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400" b="1">
                <a:solidFill>
                  <a:srgbClr val="D4AF37"/>
                </a:solidFill>
                <a:latin typeface="Arial" panose="020B0604020202020204" pitchFamily="34" charset="0"/>
              </a:rPr>
              <a:t>End-to-End Payroll &amp; BPI ATM Disbursement Pipeline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E1DB4C1-EE02-CE08-DC52-0768D2F12F60}"/>
              </a:ext>
            </a:extLst>
          </p:cNvPr>
          <p:cNvSpPr txBox="1"/>
          <p:nvPr/>
        </p:nvSpPr>
        <p:spPr>
          <a:xfrm>
            <a:off x="635000" y="1016000"/>
            <a:ext cx="10922000" cy="292388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300">
                <a:solidFill>
                  <a:srgbClr val="FFFFFF"/>
                </a:solidFill>
                <a:latin typeface="Arial" panose="020B0604020202020204" pitchFamily="34" charset="0"/>
              </a:rPr>
              <a:t>A 5-Stage Closed Loop: From Raw Punches to Employee ATM Crediting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20B23A7-6CC1-16E4-7260-9EA9124233F4}"/>
              </a:ext>
            </a:extLst>
          </p:cNvPr>
          <p:cNvSpPr/>
          <p:nvPr/>
        </p:nvSpPr>
        <p:spPr>
          <a:xfrm>
            <a:off x="635000" y="1524000"/>
            <a:ext cx="2032000" cy="4572000"/>
          </a:xfrm>
          <a:prstGeom prst="rect">
            <a:avLst/>
          </a:prstGeom>
          <a:solidFill>
            <a:srgbClr val="0F1E4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DB80C1C-C311-B331-5558-DA4C4B6FACF3}"/>
              </a:ext>
            </a:extLst>
          </p:cNvPr>
          <p:cNvSpPr txBox="1"/>
          <p:nvPr/>
        </p:nvSpPr>
        <p:spPr>
          <a:xfrm>
            <a:off x="762000" y="1714500"/>
            <a:ext cx="1778000" cy="1615827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100">
                <a:solidFill>
                  <a:srgbClr val="FFFFFF"/>
                </a:solidFill>
                <a:latin typeface="Arial" panose="020B0604020202020204" pitchFamily="34" charset="0"/>
              </a:rPr>
              <a:t>STEP 1</a:t>
            </a:r>
          </a:p>
          <a:p>
            <a:r>
              <a:rPr lang="en-US" sz="1100">
                <a:solidFill>
                  <a:srgbClr val="FFFFFF"/>
                </a:solidFill>
                <a:latin typeface="Arial" panose="020B0604020202020204" pitchFamily="34" charset="0"/>
              </a:rPr>
              <a:t>HR INGESTION</a:t>
            </a:r>
          </a:p>
          <a:p>
            <a:endParaRPr lang="en-US" sz="1100">
              <a:solidFill>
                <a:srgbClr val="FFFFFF"/>
              </a:solidFill>
              <a:latin typeface="Arial" panose="020B0604020202020204" pitchFamily="34" charset="0"/>
            </a:endParaRPr>
          </a:p>
          <a:p>
            <a:r>
              <a:rPr lang="en-US" sz="1100">
                <a:solidFill>
                  <a:srgbClr val="FFFFFF"/>
                </a:solidFill>
                <a:latin typeface="Arial" panose="020B0604020202020204" pitchFamily="34" charset="0"/>
              </a:rPr>
              <a:t>* Drag &amp; drop NGTeco file.</a:t>
            </a:r>
          </a:p>
          <a:p>
            <a:r>
              <a:rPr lang="en-US" sz="1100">
                <a:solidFill>
                  <a:srgbClr val="FFFFFF"/>
                </a:solidFill>
                <a:latin typeface="Arial" panose="020B0604020202020204" pitchFamily="34" charset="0"/>
              </a:rPr>
              <a:t>* Resolve exceptions in 5s.</a:t>
            </a:r>
          </a:p>
          <a:p>
            <a:r>
              <a:rPr lang="en-US" sz="1100">
                <a:solidFill>
                  <a:srgbClr val="FFFFFF"/>
                </a:solidFill>
                <a:latin typeface="Arial" panose="020B0604020202020204" pitchFamily="34" charset="0"/>
              </a:rPr>
              <a:t>* Compute gross-to-net in 1 second.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50FD015-049C-AC57-DB0A-F39A820579DC}"/>
              </a:ext>
            </a:extLst>
          </p:cNvPr>
          <p:cNvSpPr/>
          <p:nvPr/>
        </p:nvSpPr>
        <p:spPr>
          <a:xfrm>
            <a:off x="2857500" y="1524000"/>
            <a:ext cx="2032000" cy="4572000"/>
          </a:xfrm>
          <a:prstGeom prst="rect">
            <a:avLst/>
          </a:prstGeom>
          <a:solidFill>
            <a:srgbClr val="0F1E4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4865220-E87F-7843-C349-2706CBCD1CA5}"/>
              </a:ext>
            </a:extLst>
          </p:cNvPr>
          <p:cNvSpPr txBox="1"/>
          <p:nvPr/>
        </p:nvSpPr>
        <p:spPr>
          <a:xfrm>
            <a:off x="2984500" y="1714500"/>
            <a:ext cx="1778000" cy="1615827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100">
                <a:solidFill>
                  <a:srgbClr val="FFFFFF"/>
                </a:solidFill>
                <a:latin typeface="Arial" panose="020B0604020202020204" pitchFamily="34" charset="0"/>
              </a:rPr>
              <a:t>STEP 2</a:t>
            </a:r>
          </a:p>
          <a:p>
            <a:r>
              <a:rPr lang="en-US" sz="1100">
                <a:solidFill>
                  <a:srgbClr val="FFFFFF"/>
                </a:solidFill>
                <a:latin typeface="Arial" panose="020B0604020202020204" pitchFamily="34" charset="0"/>
              </a:rPr>
              <a:t>ACCOUNTING DEPT</a:t>
            </a:r>
          </a:p>
          <a:p>
            <a:endParaRPr lang="en-US" sz="1100">
              <a:solidFill>
                <a:srgbClr val="FFFFFF"/>
              </a:solidFill>
              <a:latin typeface="Arial" panose="020B0604020202020204" pitchFamily="34" charset="0"/>
            </a:endParaRPr>
          </a:p>
          <a:p>
            <a:r>
              <a:rPr lang="en-US" sz="1100">
                <a:solidFill>
                  <a:srgbClr val="FFFFFF"/>
                </a:solidFill>
                <a:latin typeface="Arial" panose="020B0604020202020204" pitchFamily="34" charset="0"/>
              </a:rPr>
              <a:t>* Forwarded from HR.</a:t>
            </a:r>
          </a:p>
          <a:p>
            <a:r>
              <a:rPr lang="en-US" sz="1100">
                <a:solidFill>
                  <a:srgbClr val="FFFFFF"/>
                </a:solidFill>
                <a:latin typeface="Arial" panose="020B0604020202020204" pitchFamily="34" charset="0"/>
              </a:rPr>
              <a:t>* Accounting audits deductions (SSS/PhilHealth/PagIBIG).</a:t>
            </a:r>
          </a:p>
          <a:p>
            <a:r>
              <a:rPr lang="en-US" sz="1100">
                <a:solidFill>
                  <a:srgbClr val="FFFFFF"/>
                </a:solidFill>
                <a:latin typeface="Arial" panose="020B0604020202020204" pitchFamily="34" charset="0"/>
              </a:rPr>
              <a:t>* Approves ledger.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88D5142-4071-C6E5-F636-E63C27D726FB}"/>
              </a:ext>
            </a:extLst>
          </p:cNvPr>
          <p:cNvSpPr/>
          <p:nvPr/>
        </p:nvSpPr>
        <p:spPr>
          <a:xfrm>
            <a:off x="5080000" y="1524000"/>
            <a:ext cx="2032000" cy="4572000"/>
          </a:xfrm>
          <a:prstGeom prst="rect">
            <a:avLst/>
          </a:prstGeom>
          <a:solidFill>
            <a:srgbClr val="0F1E4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D07651B-53D4-0520-5C26-908322959597}"/>
              </a:ext>
            </a:extLst>
          </p:cNvPr>
          <p:cNvSpPr txBox="1"/>
          <p:nvPr/>
        </p:nvSpPr>
        <p:spPr>
          <a:xfrm>
            <a:off x="5207000" y="1714500"/>
            <a:ext cx="1778000" cy="144655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100">
                <a:solidFill>
                  <a:srgbClr val="FFFFFF"/>
                </a:solidFill>
                <a:latin typeface="Arial" panose="020B0604020202020204" pitchFamily="34" charset="0"/>
              </a:rPr>
              <a:t>STEP 3</a:t>
            </a:r>
          </a:p>
          <a:p>
            <a:r>
              <a:rPr lang="en-US" sz="1100">
                <a:solidFill>
                  <a:srgbClr val="FFFFFF"/>
                </a:solidFill>
                <a:latin typeface="Arial" panose="020B0604020202020204" pitchFamily="34" charset="0"/>
              </a:rPr>
              <a:t>BPI BIZLINK</a:t>
            </a:r>
          </a:p>
          <a:p>
            <a:endParaRPr lang="en-US" sz="1100">
              <a:solidFill>
                <a:srgbClr val="FFFFFF"/>
              </a:solidFill>
              <a:latin typeface="Arial" panose="020B0604020202020204" pitchFamily="34" charset="0"/>
            </a:endParaRPr>
          </a:p>
          <a:p>
            <a:r>
              <a:rPr lang="en-US" sz="1100">
                <a:solidFill>
                  <a:srgbClr val="FFFFFF"/>
                </a:solidFill>
                <a:latin typeface="Arial" panose="020B0604020202020204" pitchFamily="34" charset="0"/>
              </a:rPr>
              <a:t>* System generates BPI Corporate Batch CSV/TXT file.</a:t>
            </a:r>
          </a:p>
          <a:p>
            <a:r>
              <a:rPr lang="en-US" sz="1100">
                <a:solidFill>
                  <a:srgbClr val="FFFFFF"/>
                </a:solidFill>
                <a:latin typeface="Arial" panose="020B0604020202020204" pitchFamily="34" charset="0"/>
              </a:rPr>
              <a:t>* Auto-formats account numbers and net pays.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FEA3DF0-3B40-9A17-91ED-61C226409370}"/>
              </a:ext>
            </a:extLst>
          </p:cNvPr>
          <p:cNvSpPr/>
          <p:nvPr/>
        </p:nvSpPr>
        <p:spPr>
          <a:xfrm>
            <a:off x="7302500" y="1524000"/>
            <a:ext cx="2032000" cy="4572000"/>
          </a:xfrm>
          <a:prstGeom prst="rect">
            <a:avLst/>
          </a:prstGeom>
          <a:solidFill>
            <a:srgbClr val="0F1E4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10BAF07-FA73-ECF0-8439-25756F16C0B0}"/>
              </a:ext>
            </a:extLst>
          </p:cNvPr>
          <p:cNvSpPr txBox="1"/>
          <p:nvPr/>
        </p:nvSpPr>
        <p:spPr>
          <a:xfrm>
            <a:off x="7429500" y="1714500"/>
            <a:ext cx="1778000" cy="144655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100">
                <a:solidFill>
                  <a:srgbClr val="FFFFFF"/>
                </a:solidFill>
                <a:latin typeface="Arial" panose="020B0604020202020204" pitchFamily="34" charset="0"/>
              </a:rPr>
              <a:t>STEP 4</a:t>
            </a:r>
          </a:p>
          <a:p>
            <a:r>
              <a:rPr lang="en-US" sz="1100">
                <a:solidFill>
                  <a:srgbClr val="FFFFFF"/>
                </a:solidFill>
                <a:latin typeface="Arial" panose="020B0604020202020204" pitchFamily="34" charset="0"/>
              </a:rPr>
              <a:t>MD APPROVAL</a:t>
            </a:r>
          </a:p>
          <a:p>
            <a:endParaRPr lang="en-US" sz="1100">
              <a:solidFill>
                <a:srgbClr val="FFFFFF"/>
              </a:solidFill>
              <a:latin typeface="Arial" panose="020B0604020202020204" pitchFamily="34" charset="0"/>
            </a:endParaRPr>
          </a:p>
          <a:p>
            <a:r>
              <a:rPr lang="en-US" sz="1100">
                <a:solidFill>
                  <a:srgbClr val="FFFFFF"/>
                </a:solidFill>
                <a:latin typeface="Arial" panose="020B0604020202020204" pitchFamily="34" charset="0"/>
              </a:rPr>
              <a:t>* Managing Director (Ms. Jehan Abedin) final authorization.</a:t>
            </a:r>
          </a:p>
          <a:p>
            <a:r>
              <a:rPr lang="en-US" sz="1100">
                <a:solidFill>
                  <a:srgbClr val="FFFFFF"/>
                </a:solidFill>
                <a:latin typeface="Arial" panose="020B0604020202020204" pitchFamily="34" charset="0"/>
              </a:rPr>
              <a:t>* Authorizes BPI BizLink online batch.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8983B91-7162-A60C-7A53-0AB00D05CBA6}"/>
              </a:ext>
            </a:extLst>
          </p:cNvPr>
          <p:cNvSpPr/>
          <p:nvPr/>
        </p:nvSpPr>
        <p:spPr>
          <a:xfrm>
            <a:off x="9525000" y="1524000"/>
            <a:ext cx="2032000" cy="4572000"/>
          </a:xfrm>
          <a:prstGeom prst="rect">
            <a:avLst/>
          </a:prstGeom>
          <a:solidFill>
            <a:srgbClr val="0F1E4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94DFFEF-58C8-080E-BB86-B6CE5C18D8C4}"/>
              </a:ext>
            </a:extLst>
          </p:cNvPr>
          <p:cNvSpPr txBox="1"/>
          <p:nvPr/>
        </p:nvSpPr>
        <p:spPr>
          <a:xfrm>
            <a:off x="9652000" y="1714500"/>
            <a:ext cx="1778000" cy="144655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100">
                <a:solidFill>
                  <a:srgbClr val="FFFFFF"/>
                </a:solidFill>
                <a:latin typeface="Arial" panose="020B0604020202020204" pitchFamily="34" charset="0"/>
              </a:rPr>
              <a:t>STEP 5</a:t>
            </a:r>
          </a:p>
          <a:p>
            <a:r>
              <a:rPr lang="en-US" sz="1100">
                <a:solidFill>
                  <a:srgbClr val="FFFFFF"/>
                </a:solidFill>
                <a:latin typeface="Arial" panose="020B0604020202020204" pitchFamily="34" charset="0"/>
              </a:rPr>
              <a:t>ATM &amp; PAYSLIPS</a:t>
            </a:r>
          </a:p>
          <a:p>
            <a:endParaRPr lang="en-US" sz="1100">
              <a:solidFill>
                <a:srgbClr val="FFFFFF"/>
              </a:solidFill>
              <a:latin typeface="Arial" panose="020B0604020202020204" pitchFamily="34" charset="0"/>
            </a:endParaRPr>
          </a:p>
          <a:p>
            <a:r>
              <a:rPr lang="en-US" sz="1100">
                <a:solidFill>
                  <a:srgbClr val="FFFFFF"/>
                </a:solidFill>
                <a:latin typeface="Arial" panose="020B0604020202020204" pitchFamily="34" charset="0"/>
              </a:rPr>
              <a:t>* Salary available in employee ATM accounts.</a:t>
            </a:r>
          </a:p>
          <a:p>
            <a:r>
              <a:rPr lang="en-US" sz="1100">
                <a:solidFill>
                  <a:srgbClr val="FFFFFF"/>
                </a:solidFill>
                <a:latin typeface="Arial" panose="020B0604020202020204" pitchFamily="34" charset="0"/>
              </a:rPr>
              <a:t>* Official printable payslips released with ALRAJJ logo.</a:t>
            </a:r>
          </a:p>
        </p:txBody>
      </p:sp>
    </p:spTree>
    <p:extLst>
      <p:ext uri="{BB962C8B-B14F-4D97-AF65-F5344CB8AC3E}">
        <p14:creationId xmlns:p14="http://schemas.microsoft.com/office/powerpoint/2010/main" val="326797022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12A9B0C-56B5-6FFF-3924-F5647ED9A337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AF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01FA574-1E68-65EA-65C7-AA51A2EDBDEC}"/>
              </a:ext>
            </a:extLst>
          </p:cNvPr>
          <p:cNvSpPr txBox="1"/>
          <p:nvPr/>
        </p:nvSpPr>
        <p:spPr>
          <a:xfrm>
            <a:off x="635000" y="508000"/>
            <a:ext cx="10922000" cy="4770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500" b="1">
                <a:solidFill>
                  <a:srgbClr val="031134"/>
                </a:solidFill>
                <a:latin typeface="Arial" panose="020B0604020202020204" pitchFamily="34" charset="0"/>
              </a:rPr>
              <a:t>The 5-Minute Live Demo Flow (For Tuesday)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3BC1C9C-D9BD-B851-2AE5-1440F0DA57A9}"/>
              </a:ext>
            </a:extLst>
          </p:cNvPr>
          <p:cNvSpPr/>
          <p:nvPr/>
        </p:nvSpPr>
        <p:spPr>
          <a:xfrm>
            <a:off x="635000" y="1524000"/>
            <a:ext cx="2540000" cy="457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CE6E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B2D72AE-FDE3-9C8D-70E9-9F7754328A86}"/>
              </a:ext>
            </a:extLst>
          </p:cNvPr>
          <p:cNvSpPr txBox="1"/>
          <p:nvPr/>
        </p:nvSpPr>
        <p:spPr>
          <a:xfrm>
            <a:off x="825500" y="1714500"/>
            <a:ext cx="2159000" cy="2862322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200">
                <a:solidFill>
                  <a:srgbClr val="1E293B"/>
                </a:solidFill>
                <a:latin typeface="Arial" panose="020B0604020202020204" pitchFamily="34" charset="0"/>
              </a:rPr>
              <a:t>STEP 1: EXECUTIVE PULSE</a:t>
            </a:r>
          </a:p>
          <a:p>
            <a:r>
              <a:rPr lang="en-US" sz="1200">
                <a:solidFill>
                  <a:srgbClr val="1E293B"/>
                </a:solidFill>
                <a:latin typeface="Arial" panose="020B0604020202020204" pitchFamily="34" charset="0"/>
              </a:rPr>
              <a:t>(1 Minute)</a:t>
            </a:r>
          </a:p>
          <a:p>
            <a:endParaRPr lang="en-US" sz="1200">
              <a:solidFill>
                <a:srgbClr val="1E293B"/>
              </a:solidFill>
              <a:latin typeface="Arial" panose="020B0604020202020204" pitchFamily="34" charset="0"/>
            </a:endParaRPr>
          </a:p>
          <a:p>
            <a:r>
              <a:rPr lang="en-US" sz="1200">
                <a:solidFill>
                  <a:srgbClr val="1E293B"/>
                </a:solidFill>
                <a:latin typeface="Arial" panose="020B0604020202020204" pitchFamily="34" charset="0"/>
              </a:rPr>
              <a:t>* Open alrajj-legacy.vercel.app</a:t>
            </a:r>
          </a:p>
          <a:p>
            <a:r>
              <a:rPr lang="en-US" sz="1200">
                <a:solidFill>
                  <a:srgbClr val="1E293B"/>
                </a:solidFill>
                <a:latin typeface="Arial" panose="020B0604020202020204" pitchFamily="34" charset="0"/>
              </a:rPr>
              <a:t>* Show the modern Dashboard</a:t>
            </a:r>
          </a:p>
          <a:p>
            <a:r>
              <a:rPr lang="en-US" sz="1200">
                <a:solidFill>
                  <a:srgbClr val="1E293B"/>
                </a:solidFill>
                <a:latin typeface="Arial" panose="020B0604020202020204" pitchFamily="34" charset="0"/>
              </a:rPr>
              <a:t>* Point out 4 Quick KPIs:</a:t>
            </a:r>
          </a:p>
          <a:p>
            <a:r>
              <a:rPr lang="en-US" sz="1200">
                <a:solidFill>
                  <a:srgbClr val="1E293B"/>
                </a:solidFill>
                <a:latin typeface="Arial" panose="020B0604020202020204" pitchFamily="34" charset="0"/>
              </a:rPr>
              <a:t>  - Active Staff</a:t>
            </a:r>
          </a:p>
          <a:p>
            <a:r>
              <a:rPr lang="en-US" sz="1200">
                <a:solidFill>
                  <a:srgbClr val="1E293B"/>
                </a:solidFill>
                <a:latin typeface="Arial" panose="020B0604020202020204" pitchFamily="34" charset="0"/>
              </a:rPr>
              <a:t>  - Late Minutes</a:t>
            </a:r>
          </a:p>
          <a:p>
            <a:r>
              <a:rPr lang="en-US" sz="1200">
                <a:solidFill>
                  <a:srgbClr val="1E293B"/>
                </a:solidFill>
                <a:latin typeface="Arial" panose="020B0604020202020204" pitchFamily="34" charset="0"/>
              </a:rPr>
              <a:t>  - Avg Shift Hours</a:t>
            </a:r>
          </a:p>
          <a:p>
            <a:r>
              <a:rPr lang="en-US" sz="1200">
                <a:solidFill>
                  <a:srgbClr val="1E293B"/>
                </a:solidFill>
                <a:latin typeface="Arial" panose="020B0604020202020204" pitchFamily="34" charset="0"/>
              </a:rPr>
              <a:t>  - Missed Out / Flags</a:t>
            </a:r>
          </a:p>
          <a:p>
            <a:r>
              <a:rPr lang="en-US" sz="1200">
                <a:solidFill>
                  <a:srgbClr val="1E293B"/>
                </a:solidFill>
                <a:latin typeface="Arial" panose="020B0604020202020204" pitchFamily="34" charset="0"/>
              </a:rPr>
              <a:t>* Show the 88% Attendance Donut chart.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F9E02C7-BE8D-3B3D-9A70-8DEC6230A4A0}"/>
              </a:ext>
            </a:extLst>
          </p:cNvPr>
          <p:cNvSpPr/>
          <p:nvPr/>
        </p:nvSpPr>
        <p:spPr>
          <a:xfrm>
            <a:off x="3429000" y="1524000"/>
            <a:ext cx="2540000" cy="457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CE6E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2880CC0-1ACA-3803-2283-92F48DB05B70}"/>
              </a:ext>
            </a:extLst>
          </p:cNvPr>
          <p:cNvSpPr txBox="1"/>
          <p:nvPr/>
        </p:nvSpPr>
        <p:spPr>
          <a:xfrm>
            <a:off x="3619500" y="1714500"/>
            <a:ext cx="2159000" cy="230832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200">
                <a:solidFill>
                  <a:srgbClr val="1E293B"/>
                </a:solidFill>
                <a:latin typeface="Arial" panose="020B0604020202020204" pitchFamily="34" charset="0"/>
              </a:rPr>
              <a:t>STEP 2: BIOMETRIC UPLOAD</a:t>
            </a:r>
          </a:p>
          <a:p>
            <a:r>
              <a:rPr lang="en-US" sz="1200">
                <a:solidFill>
                  <a:srgbClr val="1E293B"/>
                </a:solidFill>
                <a:latin typeface="Arial" panose="020B0604020202020204" pitchFamily="34" charset="0"/>
              </a:rPr>
              <a:t>(1 Minute)</a:t>
            </a:r>
          </a:p>
          <a:p>
            <a:endParaRPr lang="en-US" sz="1200">
              <a:solidFill>
                <a:srgbClr val="1E293B"/>
              </a:solidFill>
              <a:latin typeface="Arial" panose="020B0604020202020204" pitchFamily="34" charset="0"/>
            </a:endParaRPr>
          </a:p>
          <a:p>
            <a:r>
              <a:rPr lang="en-US" sz="1200">
                <a:solidFill>
                  <a:srgbClr val="1E293B"/>
                </a:solidFill>
                <a:latin typeface="Arial" panose="020B0604020202020204" pitchFamily="34" charset="0"/>
              </a:rPr>
              <a:t>* Click 'Biometric Ingestion'</a:t>
            </a:r>
          </a:p>
          <a:p>
            <a:r>
              <a:rPr lang="en-US" sz="1200">
                <a:solidFill>
                  <a:srgbClr val="1E293B"/>
                </a:solidFill>
                <a:latin typeface="Arial" panose="020B0604020202020204" pitchFamily="34" charset="0"/>
              </a:rPr>
              <a:t>* Show the upload area for NGTeco Excel files.</a:t>
            </a:r>
          </a:p>
          <a:p>
            <a:r>
              <a:rPr lang="en-US" sz="1200">
                <a:solidFill>
                  <a:srgbClr val="1E293B"/>
                </a:solidFill>
                <a:latin typeface="Arial" panose="020B0604020202020204" pitchFamily="34" charset="0"/>
              </a:rPr>
              <a:t>* Explain: 'No manual data entry. The system ingests all raw punches and automatically matches employee shifts.'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3F5D55A-F9E5-779C-E018-268D54CB6CCD}"/>
              </a:ext>
            </a:extLst>
          </p:cNvPr>
          <p:cNvSpPr/>
          <p:nvPr/>
        </p:nvSpPr>
        <p:spPr>
          <a:xfrm>
            <a:off x="6223000" y="1524000"/>
            <a:ext cx="2540000" cy="457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CE6E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70965F5-3B92-8E43-9059-76C9476ED0ED}"/>
              </a:ext>
            </a:extLst>
          </p:cNvPr>
          <p:cNvSpPr txBox="1"/>
          <p:nvPr/>
        </p:nvSpPr>
        <p:spPr>
          <a:xfrm>
            <a:off x="6413500" y="1714500"/>
            <a:ext cx="2159000" cy="230832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200">
                <a:solidFill>
                  <a:srgbClr val="1E293B"/>
                </a:solidFill>
                <a:latin typeface="Arial" panose="020B0604020202020204" pitchFamily="34" charset="0"/>
              </a:rPr>
              <a:t>STEP 3: EXCEPTIONS &amp; NTE</a:t>
            </a:r>
          </a:p>
          <a:p>
            <a:r>
              <a:rPr lang="en-US" sz="1200">
                <a:solidFill>
                  <a:srgbClr val="1E293B"/>
                </a:solidFill>
                <a:latin typeface="Arial" panose="020B0604020202020204" pitchFamily="34" charset="0"/>
              </a:rPr>
              <a:t>(1.5 Minutes)</a:t>
            </a:r>
          </a:p>
          <a:p>
            <a:endParaRPr lang="en-US" sz="1200">
              <a:solidFill>
                <a:srgbClr val="1E293B"/>
              </a:solidFill>
              <a:latin typeface="Arial" panose="020B0604020202020204" pitchFamily="34" charset="0"/>
            </a:endParaRPr>
          </a:p>
          <a:p>
            <a:r>
              <a:rPr lang="en-US" sz="1200">
                <a:solidFill>
                  <a:srgbClr val="1E293B"/>
                </a:solidFill>
                <a:latin typeface="Arial" panose="020B0604020202020204" pitchFamily="34" charset="0"/>
              </a:rPr>
              <a:t>* Click 'Exceptions &amp; Flags'</a:t>
            </a:r>
          </a:p>
          <a:p>
            <a:r>
              <a:rPr lang="en-US" sz="1200">
                <a:solidFill>
                  <a:srgbClr val="1E293B"/>
                </a:solidFill>
                <a:latin typeface="Arial" panose="020B0604020202020204" pitchFamily="34" charset="0"/>
              </a:rPr>
              <a:t>* Show how missing OUT punches are highlighted.</a:t>
            </a:r>
          </a:p>
          <a:p>
            <a:r>
              <a:rPr lang="en-US" sz="1200">
                <a:solidFill>
                  <a:srgbClr val="1E293B"/>
                </a:solidFill>
                <a:latin typeface="Arial" panose="020B0604020202020204" pitchFamily="34" charset="0"/>
              </a:rPr>
              <a:t>* Click 'Resolve' and adjust shift in 5 seconds.</a:t>
            </a:r>
          </a:p>
          <a:p>
            <a:r>
              <a:rPr lang="en-US" sz="1200">
                <a:solidFill>
                  <a:srgbClr val="1E293B"/>
                </a:solidFill>
                <a:latin typeface="Arial" panose="020B0604020202020204" pitchFamily="34" charset="0"/>
              </a:rPr>
              <a:t>* Click 'Tardiness &amp; NTE' to display auto-generated Notice to Explain letter.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3FBFEDA-5ECC-AA61-9EFF-BE3D6C44BB02}"/>
              </a:ext>
            </a:extLst>
          </p:cNvPr>
          <p:cNvSpPr/>
          <p:nvPr/>
        </p:nvSpPr>
        <p:spPr>
          <a:xfrm>
            <a:off x="9017000" y="1524000"/>
            <a:ext cx="2540000" cy="457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CE6E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C2B01C7-4347-F1C3-67CD-A24ADA441D54}"/>
              </a:ext>
            </a:extLst>
          </p:cNvPr>
          <p:cNvSpPr txBox="1"/>
          <p:nvPr/>
        </p:nvSpPr>
        <p:spPr>
          <a:xfrm>
            <a:off x="9207500" y="1714500"/>
            <a:ext cx="2159000" cy="230832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200">
                <a:solidFill>
                  <a:srgbClr val="1E293B"/>
                </a:solidFill>
                <a:latin typeface="Arial" panose="020B0604020202020204" pitchFamily="34" charset="0"/>
              </a:rPr>
              <a:t>STEP 4: 1-CLICK PAYROLL</a:t>
            </a:r>
          </a:p>
          <a:p>
            <a:r>
              <a:rPr lang="en-US" sz="1200">
                <a:solidFill>
                  <a:srgbClr val="1E293B"/>
                </a:solidFill>
                <a:latin typeface="Arial" panose="020B0604020202020204" pitchFamily="34" charset="0"/>
              </a:rPr>
              <a:t>(1.5 Minutes)</a:t>
            </a:r>
          </a:p>
          <a:p>
            <a:endParaRPr lang="en-US" sz="1200">
              <a:solidFill>
                <a:srgbClr val="1E293B"/>
              </a:solidFill>
              <a:latin typeface="Arial" panose="020B0604020202020204" pitchFamily="34" charset="0"/>
            </a:endParaRPr>
          </a:p>
          <a:p>
            <a:r>
              <a:rPr lang="en-US" sz="1200">
                <a:solidFill>
                  <a:srgbClr val="1E293B"/>
                </a:solidFill>
                <a:latin typeface="Arial" panose="020B0604020202020204" pitchFamily="34" charset="0"/>
              </a:rPr>
              <a:t>* Click 'Accounting &amp; Payroll'</a:t>
            </a:r>
          </a:p>
          <a:p>
            <a:r>
              <a:rPr lang="en-US" sz="1200">
                <a:solidFill>
                  <a:srgbClr val="1E293B"/>
                </a:solidFill>
                <a:latin typeface="Arial" panose="020B0604020202020204" pitchFamily="34" charset="0"/>
              </a:rPr>
              <a:t>* Click 'Compute Payroll'</a:t>
            </a:r>
          </a:p>
          <a:p>
            <a:r>
              <a:rPr lang="en-US" sz="1200">
                <a:solidFill>
                  <a:srgbClr val="1E293B"/>
                </a:solidFill>
                <a:latin typeface="Arial" panose="020B0604020202020204" pitchFamily="34" charset="0"/>
              </a:rPr>
              <a:t>* Show 5-step BPI disbursement pipeline.</a:t>
            </a:r>
          </a:p>
          <a:p>
            <a:r>
              <a:rPr lang="en-US" sz="1200">
                <a:solidFill>
                  <a:srgbClr val="1E293B"/>
                </a:solidFill>
                <a:latin typeface="Arial" panose="020B0604020202020204" pitchFamily="34" charset="0"/>
              </a:rPr>
              <a:t>* Generate BPI BizLink Batch CSV.</a:t>
            </a:r>
          </a:p>
          <a:p>
            <a:r>
              <a:rPr lang="en-US" sz="1200">
                <a:solidFill>
                  <a:srgbClr val="1E293B"/>
                </a:solidFill>
                <a:latin typeface="Arial" panose="020B0604020202020204" pitchFamily="34" charset="0"/>
              </a:rPr>
              <a:t>* Open an Itemized Payslip with ALRAJJ logo ready to print.</a:t>
            </a:r>
          </a:p>
        </p:txBody>
      </p:sp>
    </p:spTree>
    <p:extLst>
      <p:ext uri="{BB962C8B-B14F-4D97-AF65-F5344CB8AC3E}">
        <p14:creationId xmlns:p14="http://schemas.microsoft.com/office/powerpoint/2010/main" val="421868208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D65035BA-70C5-469F-F5A0-0719FFA1EC70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AF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225228E-CC71-51B1-6A9F-BBEB8F0A3101}"/>
              </a:ext>
            </a:extLst>
          </p:cNvPr>
          <p:cNvSpPr txBox="1"/>
          <p:nvPr/>
        </p:nvSpPr>
        <p:spPr>
          <a:xfrm>
            <a:off x="635000" y="508000"/>
            <a:ext cx="10922000" cy="4770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500" b="1">
                <a:solidFill>
                  <a:srgbClr val="031134"/>
                </a:solidFill>
                <a:latin typeface="Arial" panose="020B0604020202020204" pitchFamily="34" charset="0"/>
              </a:rPr>
              <a:t>Tangible Business Value &amp; ROI for Leadership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CD03D83-FF02-9D96-3311-AD7AFB577E01}"/>
              </a:ext>
            </a:extLst>
          </p:cNvPr>
          <p:cNvSpPr/>
          <p:nvPr/>
        </p:nvSpPr>
        <p:spPr>
          <a:xfrm>
            <a:off x="635000" y="1397000"/>
            <a:ext cx="5207000" cy="203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CE6E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3B35081-5206-8EAD-205D-C2B1EBCED9F0}"/>
              </a:ext>
            </a:extLst>
          </p:cNvPr>
          <p:cNvSpPr txBox="1"/>
          <p:nvPr/>
        </p:nvSpPr>
        <p:spPr>
          <a:xfrm>
            <a:off x="889000" y="1524000"/>
            <a:ext cx="4699000" cy="1092607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300">
                <a:solidFill>
                  <a:srgbClr val="1E293B"/>
                </a:solidFill>
                <a:latin typeface="Arial" panose="020B0604020202020204" pitchFamily="34" charset="0"/>
              </a:rPr>
              <a:t>95% TIME REDUCTION</a:t>
            </a:r>
          </a:p>
          <a:p>
            <a:endParaRPr lang="en-US" sz="1300">
              <a:solidFill>
                <a:srgbClr val="1E293B"/>
              </a:solidFill>
              <a:latin typeface="Arial" panose="020B0604020202020204" pitchFamily="34" charset="0"/>
            </a:endParaRPr>
          </a:p>
          <a:p>
            <a:r>
              <a:rPr lang="en-US" sz="1300">
                <a:solidFill>
                  <a:srgbClr val="1E293B"/>
                </a:solidFill>
                <a:latin typeface="Arial" panose="020B0604020202020204" pitchFamily="34" charset="0"/>
              </a:rPr>
              <a:t>Cuts payroll computation from 16 hours (2 working days) down to just 5 minutes per cutoff.</a:t>
            </a:r>
          </a:p>
          <a:p>
            <a:r>
              <a:rPr lang="en-US" sz="1300">
                <a:solidFill>
                  <a:srgbClr val="1E293B"/>
                </a:solidFill>
                <a:latin typeface="Arial" panose="020B0604020202020204" pitchFamily="34" charset="0"/>
              </a:rPr>
              <a:t>Saves over 380 management hours annually.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0C3F391-A0FC-BABB-F490-B685219A2E12}"/>
              </a:ext>
            </a:extLst>
          </p:cNvPr>
          <p:cNvSpPr/>
          <p:nvPr/>
        </p:nvSpPr>
        <p:spPr>
          <a:xfrm>
            <a:off x="6223000" y="1397000"/>
            <a:ext cx="5334000" cy="203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CE6E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CE3FFAA-9E92-9C55-5E20-1BEB623B4303}"/>
              </a:ext>
            </a:extLst>
          </p:cNvPr>
          <p:cNvSpPr txBox="1"/>
          <p:nvPr/>
        </p:nvSpPr>
        <p:spPr>
          <a:xfrm>
            <a:off x="6477000" y="1524000"/>
            <a:ext cx="4826000" cy="1092607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300">
                <a:solidFill>
                  <a:srgbClr val="1E293B"/>
                </a:solidFill>
                <a:latin typeface="Arial" panose="020B0604020202020204" pitchFamily="34" charset="0"/>
              </a:rPr>
              <a:t>ZERO MATHEMATICAL ERRORS</a:t>
            </a:r>
          </a:p>
          <a:p>
            <a:endParaRPr lang="en-US" sz="1300">
              <a:solidFill>
                <a:srgbClr val="1E293B"/>
              </a:solidFill>
              <a:latin typeface="Arial" panose="020B0604020202020204" pitchFamily="34" charset="0"/>
            </a:endParaRPr>
          </a:p>
          <a:p>
            <a:r>
              <a:rPr lang="en-US" sz="1300">
                <a:solidFill>
                  <a:srgbClr val="1E293B"/>
                </a:solidFill>
                <a:latin typeface="Arial" panose="020B0604020202020204" pitchFamily="34" charset="0"/>
              </a:rPr>
              <a:t>Standardized, automated deductions eliminate over/under-payments, tax mismatches, and employee compensation grievances.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C4AEF4A-BE86-B336-5720-16802616DF13}"/>
              </a:ext>
            </a:extLst>
          </p:cNvPr>
          <p:cNvSpPr/>
          <p:nvPr/>
        </p:nvSpPr>
        <p:spPr>
          <a:xfrm>
            <a:off x="635000" y="3683000"/>
            <a:ext cx="5207000" cy="2159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CE6E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378211D-3EF6-16AA-EC5B-2D2DC668834D}"/>
              </a:ext>
            </a:extLst>
          </p:cNvPr>
          <p:cNvSpPr txBox="1"/>
          <p:nvPr/>
        </p:nvSpPr>
        <p:spPr>
          <a:xfrm>
            <a:off x="889000" y="3810000"/>
            <a:ext cx="4699000" cy="1092607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300">
                <a:solidFill>
                  <a:srgbClr val="1E293B"/>
                </a:solidFill>
                <a:latin typeface="Arial" panose="020B0604020202020204" pitchFamily="34" charset="0"/>
              </a:rPr>
              <a:t>LABOR COMPLIANCE PROTECTION</a:t>
            </a:r>
          </a:p>
          <a:p>
            <a:endParaRPr lang="en-US" sz="1300">
              <a:solidFill>
                <a:srgbClr val="1E293B"/>
              </a:solidFill>
              <a:latin typeface="Arial" panose="020B0604020202020204" pitchFamily="34" charset="0"/>
            </a:endParaRPr>
          </a:p>
          <a:p>
            <a:r>
              <a:rPr lang="en-US" sz="1300">
                <a:solidFill>
                  <a:srgbClr val="1E293B"/>
                </a:solidFill>
                <a:latin typeface="Arial" panose="020B0604020202020204" pitchFamily="34" charset="0"/>
              </a:rPr>
              <a:t>Automatic tracking of habitual tardiness with generated 5-day Notice to Explain (NTE) documents protects the company with strict DOLE compliance.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9C15576-5AED-71CD-4AC9-F25C363F0D85}"/>
              </a:ext>
            </a:extLst>
          </p:cNvPr>
          <p:cNvSpPr/>
          <p:nvPr/>
        </p:nvSpPr>
        <p:spPr>
          <a:xfrm>
            <a:off x="6223000" y="3683000"/>
            <a:ext cx="5334000" cy="2159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CE6E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F7D39C6-6C82-78CA-E585-50A8D7A39720}"/>
              </a:ext>
            </a:extLst>
          </p:cNvPr>
          <p:cNvSpPr txBox="1"/>
          <p:nvPr/>
        </p:nvSpPr>
        <p:spPr>
          <a:xfrm>
            <a:off x="6477000" y="3810000"/>
            <a:ext cx="4826000" cy="1092607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300">
                <a:solidFill>
                  <a:srgbClr val="1E293B"/>
                </a:solidFill>
                <a:latin typeface="Arial" panose="020B0604020202020204" pitchFamily="34" charset="0"/>
              </a:rPr>
              <a:t>FULL EXECUTIVE TRANSPARENCY</a:t>
            </a:r>
          </a:p>
          <a:p>
            <a:endParaRPr lang="en-US" sz="1300">
              <a:solidFill>
                <a:srgbClr val="1E293B"/>
              </a:solidFill>
              <a:latin typeface="Arial" panose="020B0604020202020204" pitchFamily="34" charset="0"/>
            </a:endParaRPr>
          </a:p>
          <a:p>
            <a:r>
              <a:rPr lang="en-US" sz="1300">
                <a:solidFill>
                  <a:srgbClr val="1E293B"/>
                </a:solidFill>
                <a:latin typeface="Arial" panose="020B0604020202020204" pitchFamily="34" charset="0"/>
              </a:rPr>
              <a:t>General Manager can review branch attendance health, overtime spend, and branch performance in real time from any smartphone or laptop.</a:t>
            </a:r>
          </a:p>
        </p:txBody>
      </p:sp>
    </p:spTree>
    <p:extLst>
      <p:ext uri="{BB962C8B-B14F-4D97-AF65-F5344CB8AC3E}">
        <p14:creationId xmlns:p14="http://schemas.microsoft.com/office/powerpoint/2010/main" val="120155193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D68485EB-2B32-2C46-3172-1694D16CCAFE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3113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9A3B1CB-C71A-5A23-AE35-DC0B61FB0A13}"/>
              </a:ext>
            </a:extLst>
          </p:cNvPr>
          <p:cNvSpPr txBox="1"/>
          <p:nvPr/>
        </p:nvSpPr>
        <p:spPr>
          <a:xfrm>
            <a:off x="635000" y="508000"/>
            <a:ext cx="10922000" cy="4770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500" b="1">
                <a:solidFill>
                  <a:srgbClr val="D4AF37"/>
                </a:solidFill>
                <a:latin typeface="Arial" panose="020B0604020202020204" pitchFamily="34" charset="0"/>
              </a:rPr>
              <a:t>Implementation Roadmap &amp; Next Steps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53FF5F9-F87A-D2BC-BB50-38FD7D6E34C2}"/>
              </a:ext>
            </a:extLst>
          </p:cNvPr>
          <p:cNvSpPr/>
          <p:nvPr/>
        </p:nvSpPr>
        <p:spPr>
          <a:xfrm>
            <a:off x="635000" y="1397000"/>
            <a:ext cx="6350000" cy="4572000"/>
          </a:xfrm>
          <a:prstGeom prst="rect">
            <a:avLst/>
          </a:prstGeom>
          <a:solidFill>
            <a:srgbClr val="0F1E4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7B6D254-698C-0648-90FE-F32A3C6B8D7F}"/>
              </a:ext>
            </a:extLst>
          </p:cNvPr>
          <p:cNvSpPr txBox="1"/>
          <p:nvPr/>
        </p:nvSpPr>
        <p:spPr>
          <a:xfrm>
            <a:off x="889000" y="1587500"/>
            <a:ext cx="5842000" cy="2693045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300">
                <a:solidFill>
                  <a:srgbClr val="FFFFFF"/>
                </a:solidFill>
                <a:latin typeface="Arial" panose="020B0604020202020204" pitchFamily="34" charset="0"/>
              </a:rPr>
              <a:t>MILESTONE ROADMAP</a:t>
            </a:r>
          </a:p>
          <a:p>
            <a:endParaRPr lang="en-US" sz="1300">
              <a:solidFill>
                <a:srgbClr val="FFFFFF"/>
              </a:solidFill>
              <a:latin typeface="Arial" panose="020B0604020202020204" pitchFamily="34" charset="0"/>
            </a:endParaRPr>
          </a:p>
          <a:p>
            <a:r>
              <a:rPr lang="en-US" sz="1300">
                <a:solidFill>
                  <a:srgbClr val="FFFFFF"/>
                </a:solidFill>
                <a:latin typeface="Arial" panose="020B0604020202020204" pitchFamily="34" charset="0"/>
              </a:rPr>
              <a:t>* Milestone 1: Core System &amp; UI (COMPLETE &amp; LIVE)</a:t>
            </a:r>
          </a:p>
          <a:p>
            <a:r>
              <a:rPr lang="en-US" sz="1300">
                <a:solidFill>
                  <a:srgbClr val="FFFFFF"/>
                </a:solidFill>
                <a:latin typeface="Arial" panose="020B0604020202020204" pitchFamily="34" charset="0"/>
              </a:rPr>
              <a:t>  - Live at https://alrajj-legacy.vercel.app</a:t>
            </a:r>
          </a:p>
          <a:p>
            <a:endParaRPr lang="en-US" sz="1300">
              <a:solidFill>
                <a:srgbClr val="FFFFFF"/>
              </a:solidFill>
              <a:latin typeface="Arial" panose="020B0604020202020204" pitchFamily="34" charset="0"/>
            </a:endParaRPr>
          </a:p>
          <a:p>
            <a:r>
              <a:rPr lang="en-US" sz="1300">
                <a:solidFill>
                  <a:srgbClr val="FFFFFF"/>
                </a:solidFill>
                <a:latin typeface="Arial" panose="020B0604020202020204" pitchFamily="34" charset="0"/>
              </a:rPr>
              <a:t>* Milestone 2: User Acceptance Testing (UAT)</a:t>
            </a:r>
          </a:p>
          <a:p>
            <a:r>
              <a:rPr lang="en-US" sz="1300">
                <a:solidFill>
                  <a:srgbClr val="FFFFFF"/>
                </a:solidFill>
                <a:latin typeface="Arial" panose="020B0604020202020204" pitchFamily="34" charset="0"/>
              </a:rPr>
              <a:t>  - Test with actual NGTeco logs from Centrio, Ketkai, SM Downtown</a:t>
            </a:r>
          </a:p>
          <a:p>
            <a:endParaRPr lang="en-US" sz="1300">
              <a:solidFill>
                <a:srgbClr val="FFFFFF"/>
              </a:solidFill>
              <a:latin typeface="Arial" panose="020B0604020202020204" pitchFamily="34" charset="0"/>
            </a:endParaRPr>
          </a:p>
          <a:p>
            <a:r>
              <a:rPr lang="en-US" sz="1300">
                <a:solidFill>
                  <a:srgbClr val="FFFFFF"/>
                </a:solidFill>
                <a:latin typeface="Arial" panose="020B0604020202020204" pitchFamily="34" charset="0"/>
              </a:rPr>
              <a:t>* Milestone 3: Live Hand-off &amp; Staff Training</a:t>
            </a:r>
          </a:p>
          <a:p>
            <a:r>
              <a:rPr lang="en-US" sz="1300">
                <a:solidFill>
                  <a:srgbClr val="FFFFFF"/>
                </a:solidFill>
                <a:latin typeface="Arial" panose="020B0604020202020204" pitchFamily="34" charset="0"/>
              </a:rPr>
              <a:t>  - Quick 30-min onboarding for HR team</a:t>
            </a:r>
          </a:p>
          <a:p>
            <a:endParaRPr lang="en-US" sz="1300">
              <a:solidFill>
                <a:srgbClr val="FFFFFF"/>
              </a:solidFill>
              <a:latin typeface="Arial" panose="020B0604020202020204" pitchFamily="34" charset="0"/>
            </a:endParaRPr>
          </a:p>
          <a:p>
            <a:r>
              <a:rPr lang="en-US" sz="1300">
                <a:solidFill>
                  <a:srgbClr val="FFFFFF"/>
                </a:solidFill>
                <a:latin typeface="Arial" panose="020B0604020202020204" pitchFamily="34" charset="0"/>
              </a:rPr>
              <a:t>* Full 12 Months Support: FREE comprehensive maintenance</a:t>
            </a:r>
          </a:p>
          <a:p>
            <a:r>
              <a:rPr lang="en-US" sz="1300">
                <a:solidFill>
                  <a:srgbClr val="FFFFFF"/>
                </a:solidFill>
                <a:latin typeface="Arial" panose="020B0604020202020204" pitchFamily="34" charset="0"/>
              </a:rPr>
              <a:t>* Year 2+: Highly affordable PHP 1,500/mo cloud retainer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95BA3C3-4746-4AF7-C497-0577B0F8D15C}"/>
              </a:ext>
            </a:extLst>
          </p:cNvPr>
          <p:cNvSpPr/>
          <p:nvPr/>
        </p:nvSpPr>
        <p:spPr>
          <a:xfrm>
            <a:off x="7239000" y="1397000"/>
            <a:ext cx="4318000" cy="457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CE6E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443692C-8430-5BDF-5D40-F4F974B8B58B}"/>
              </a:ext>
            </a:extLst>
          </p:cNvPr>
          <p:cNvSpPr txBox="1"/>
          <p:nvPr/>
        </p:nvSpPr>
        <p:spPr>
          <a:xfrm>
            <a:off x="7493000" y="1587500"/>
            <a:ext cx="3810000" cy="3293209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300">
                <a:solidFill>
                  <a:srgbClr val="1E293B"/>
                </a:solidFill>
                <a:latin typeface="Arial" panose="020B0604020202020204" pitchFamily="34" charset="0"/>
              </a:rPr>
              <a:t>READY FOR TUESDAY</a:t>
            </a:r>
          </a:p>
          <a:p>
            <a:endParaRPr lang="en-US" sz="1300">
              <a:solidFill>
                <a:srgbClr val="1E293B"/>
              </a:solidFill>
              <a:latin typeface="Arial" panose="020B0604020202020204" pitchFamily="34" charset="0"/>
            </a:endParaRPr>
          </a:p>
          <a:p>
            <a:r>
              <a:rPr lang="en-US" sz="1300">
                <a:solidFill>
                  <a:srgbClr val="1E293B"/>
                </a:solidFill>
                <a:latin typeface="Arial" panose="020B0604020202020204" pitchFamily="34" charset="0"/>
              </a:rPr>
              <a:t>Immediate Action Items:</a:t>
            </a:r>
          </a:p>
          <a:p>
            <a:endParaRPr lang="en-US" sz="1300">
              <a:solidFill>
                <a:srgbClr val="1E293B"/>
              </a:solidFill>
              <a:latin typeface="Arial" panose="020B0604020202020204" pitchFamily="34" charset="0"/>
            </a:endParaRPr>
          </a:p>
          <a:p>
            <a:r>
              <a:rPr lang="en-US" sz="1300">
                <a:solidFill>
                  <a:srgbClr val="1E293B"/>
                </a:solidFill>
                <a:latin typeface="Arial" panose="020B0604020202020204" pitchFamily="34" charset="0"/>
              </a:rPr>
              <a:t>1. Gather 1 actual biometric export from each of the 3 branches.</a:t>
            </a:r>
          </a:p>
          <a:p>
            <a:endParaRPr lang="en-US" sz="1300">
              <a:solidFill>
                <a:srgbClr val="1E293B"/>
              </a:solidFill>
              <a:latin typeface="Arial" panose="020B0604020202020204" pitchFamily="34" charset="0"/>
            </a:endParaRPr>
          </a:p>
          <a:p>
            <a:r>
              <a:rPr lang="en-US" sz="1300">
                <a:solidFill>
                  <a:srgbClr val="1E293B"/>
                </a:solidFill>
                <a:latin typeface="Arial" panose="020B0604020202020204" pitchFamily="34" charset="0"/>
              </a:rPr>
              <a:t>2. Conduct the 5-minute live demo on alrajj-legacy.vercel.app.</a:t>
            </a:r>
          </a:p>
          <a:p>
            <a:endParaRPr lang="en-US" sz="1300">
              <a:solidFill>
                <a:srgbClr val="1E293B"/>
              </a:solidFill>
              <a:latin typeface="Arial" panose="020B0604020202020204" pitchFamily="34" charset="0"/>
            </a:endParaRPr>
          </a:p>
          <a:p>
            <a:r>
              <a:rPr lang="en-US" sz="1300">
                <a:solidFill>
                  <a:srgbClr val="1E293B"/>
                </a:solidFill>
                <a:latin typeface="Arial" panose="020B0604020202020204" pitchFamily="34" charset="0"/>
              </a:rPr>
              <a:t>3. Sign off on UAT schedule.</a:t>
            </a:r>
          </a:p>
          <a:p>
            <a:endParaRPr lang="en-US" sz="1300">
              <a:solidFill>
                <a:srgbClr val="1E293B"/>
              </a:solidFill>
              <a:latin typeface="Arial" panose="020B0604020202020204" pitchFamily="34" charset="0"/>
            </a:endParaRPr>
          </a:p>
          <a:p>
            <a:endParaRPr lang="en-US" sz="1300">
              <a:solidFill>
                <a:srgbClr val="1E293B"/>
              </a:solidFill>
              <a:latin typeface="Arial" panose="020B0604020202020204" pitchFamily="34" charset="0"/>
            </a:endParaRPr>
          </a:p>
          <a:p>
            <a:r>
              <a:rPr lang="en-US" sz="1300">
                <a:solidFill>
                  <a:srgbClr val="1E293B"/>
                </a:solidFill>
                <a:latin typeface="Arial" panose="020B0604020202020204" pitchFamily="34" charset="0"/>
              </a:rPr>
              <a:t>Thank you!</a:t>
            </a:r>
          </a:p>
          <a:p>
            <a:r>
              <a:rPr lang="en-US" sz="1300">
                <a:solidFill>
                  <a:srgbClr val="1E293B"/>
                </a:solidFill>
                <a:latin typeface="Arial" panose="020B0604020202020204" pitchFamily="34" charset="0"/>
              </a:rPr>
              <a:t>ALRAJJ LEGACY Fortified Business Corp.</a:t>
            </a:r>
          </a:p>
          <a:p>
            <a:r>
              <a:rPr lang="en-US" sz="1300">
                <a:solidFill>
                  <a:srgbClr val="1E293B"/>
                </a:solidFill>
                <a:latin typeface="Arial" panose="020B0604020202020204" pitchFamily="34" charset="0"/>
              </a:rPr>
              <a:t>SETHCON Technologies Inc.</a:t>
            </a:r>
          </a:p>
        </p:txBody>
      </p:sp>
    </p:spTree>
    <p:extLst>
      <p:ext uri="{BB962C8B-B14F-4D97-AF65-F5344CB8AC3E}">
        <p14:creationId xmlns:p14="http://schemas.microsoft.com/office/powerpoint/2010/main" val="311830508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1227</Words>
  <Application>Microsoft Office PowerPoint</Application>
  <PresentationFormat>Custom</PresentationFormat>
  <Paragraphs>219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USER</dc:creator>
  <cp:lastModifiedBy>USER</cp:lastModifiedBy>
  <cp:revision>1</cp:revision>
  <dcterms:created xsi:type="dcterms:W3CDTF">2026-09-07T17:29:36Z</dcterms:created>
  <dcterms:modified xsi:type="dcterms:W3CDTF">2026-09-07T17:29:36Z</dcterms:modified>
</cp:coreProperties>
</file>