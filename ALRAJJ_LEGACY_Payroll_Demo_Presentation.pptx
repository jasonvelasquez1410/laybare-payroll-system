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342D9-22AA-E810-E9A6-D7065197E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D8E053-5F4D-F13B-8318-C8E3A72BC3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66880D-516A-B921-608E-57B74DF60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80187-6ED1-4582-AADD-A687E7E43126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AD042A-D378-DC61-29EA-D8E94411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639FF3-4066-E23F-0979-5A2E324BE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9D5DE-9DEF-436D-8467-5400473CD0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0538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CC275-7407-D95E-CECD-21614703F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CF343B-0588-04F5-3012-44ECE855F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B571FE-28BF-E3ED-75B8-D3D9A0B3B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80187-6ED1-4582-AADD-A687E7E43126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2992DC-380D-BB9B-2C9D-74D1150C20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8F975B-E847-E25B-2ECA-12B871D12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9D5DE-9DEF-436D-8467-5400473CD0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907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02924-2EC8-9AB9-687A-E9EF5046C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7C2DD2-14C3-A76C-85AA-C5F5290BF0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501C65-C0C8-9385-A5C4-EF0A08D57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80187-6ED1-4582-AADD-A687E7E43126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E6859C-BA61-7B24-3148-270C3FB413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5A4D76-29FD-D132-79F2-8E94A38DA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9D5DE-9DEF-436D-8467-5400473CD0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930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B7DB5-C6C7-4DD2-2C7B-EE8E68453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2370C5-3970-1D92-DC1D-9C61350731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61EBB9-2B49-324E-7BA7-00F56DB5FD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202DC-F908-81C3-6640-F0F83EAD9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80187-6ED1-4582-AADD-A687E7E43126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990E77-1394-F4D7-DD63-4B2392C51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CDDF54-42F6-8964-15AD-38EB2DFA7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9D5DE-9DEF-436D-8467-5400473CD0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210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3E0E9-56E4-FC58-6D98-9AFF644FB8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84A335-9634-2DE2-FA11-4753BDC87A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4D2187-92C3-E366-8D0B-53ECFF95D3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6E577D-B62B-E0B8-DE65-1CDB03D4FA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292191-B27C-10DA-4AAC-6F01DF05D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5C6863-8833-4B62-D977-DF302C9F4A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80187-6ED1-4582-AADD-A687E7E43126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B75D44-AF79-3254-BE6A-EA1FC1307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66F727-445C-9663-E9B8-C8FAE5F37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9D5DE-9DEF-436D-8467-5400473CD0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9218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83115-4983-B17E-C3DC-CC47D7198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09B15D-6561-2D14-C91B-29698193F2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80187-6ED1-4582-AADD-A687E7E43126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A8466E-ECBA-A6B3-A538-7E38ADEAE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C5903D-8010-C250-0857-57B2F9736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9D5DE-9DEF-436D-8467-5400473CD0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931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F91B59-B333-A74F-6F00-713FE783E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80187-6ED1-4582-AADD-A687E7E43126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559E21-A291-A583-3664-A42AF970B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A49205-AE27-B2D3-7216-6007C8EFB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9D5DE-9DEF-436D-8467-5400473CD0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4494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33E18-1C33-A078-DE8A-9679EAF91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64175-767A-FA8F-2354-79D4FBF479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93CFE4-9665-C5A4-DBAE-A6387608B1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89F037-6F16-04B6-BF5F-4A3F19455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80187-6ED1-4582-AADD-A687E7E43126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8548BF-2490-163B-65D4-17E0DFB34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51D2D0-81E3-4CDD-B042-0C6E24F5C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9D5DE-9DEF-436D-8467-5400473CD0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9586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EC630-E4C6-A7DC-D64B-D3EB89CDD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44E39E-3350-FBD8-4FCD-3AD857E0EC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BE279E-D445-4153-F14E-3B96B5FCBD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D89B13-7BD3-89DA-5A9F-7A993CA03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80187-6ED1-4582-AADD-A687E7E43126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45626C-C96D-9D9D-53F4-B8AE9EF08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98DD76-DF57-5D34-37AD-9D9C0398E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9D5DE-9DEF-436D-8467-5400473CD0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7429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974D9-A1A1-D2C2-892E-627FAEEBA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0E4835-5359-60BA-32A3-8B745B7B21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0D6111-5619-07CE-C63F-CF44C7004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80187-6ED1-4582-AADD-A687E7E43126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78F7F9-CCF2-CF34-5A87-5557C5DB1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B21551-E6F9-E5BE-172B-E01A92FDB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9D5DE-9DEF-436D-8467-5400473CD0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279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7C3E67-D63E-A7D5-CBF5-FDA77A68B8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5C55DB-C2BB-DCA7-26B5-46CBF97344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3180B2-DB01-E689-76F9-C5EA3F5BA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80187-6ED1-4582-AADD-A687E7E43126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67E5E3-438E-559F-8789-9DA9EE42B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253CFF-FD92-C7D1-9731-E8E135F99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9D5DE-9DEF-436D-8467-5400473CD0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3537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D480E4-4A52-2297-05E6-CDBE1256B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A956F8-A892-1FE4-7814-521D2E42D0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8CBE98-93D9-1E6F-8335-7890BC6CB7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680187-6ED1-4582-AADD-A687E7E43126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D12078-79B0-FCB0-499B-80452F9CA8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A9FFE9-9BDB-F6F9-9092-20D5E8B9B2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99D5DE-9DEF-436D-8467-5400473CD0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7318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D1C481-E9BA-9224-0350-32BAE694A39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311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570175-C143-FDA0-7A34-B247638F72AD}"/>
              </a:ext>
            </a:extLst>
          </p:cNvPr>
          <p:cNvSpPr/>
          <p:nvPr/>
        </p:nvSpPr>
        <p:spPr>
          <a:xfrm>
            <a:off x="1016000" y="1524000"/>
            <a:ext cx="101600" cy="3556000"/>
          </a:xfrm>
          <a:prstGeom prst="rect">
            <a:avLst/>
          </a:prstGeom>
          <a:solidFill>
            <a:srgbClr val="D4AF3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26DB76-4296-727D-2177-8CCDBC00D12A}"/>
              </a:ext>
            </a:extLst>
          </p:cNvPr>
          <p:cNvSpPr txBox="1"/>
          <p:nvPr/>
        </p:nvSpPr>
        <p:spPr>
          <a:xfrm>
            <a:off x="1397000" y="1397000"/>
            <a:ext cx="9906000" cy="80021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4600" b="1">
                <a:solidFill>
                  <a:srgbClr val="D4AF37"/>
                </a:solidFill>
                <a:latin typeface="Arial" panose="020B0604020202020204" pitchFamily="34" charset="0"/>
              </a:rPr>
              <a:t>ALRAJJ LEGACY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99C931-8FC0-7298-CCFE-221E4EEB394F}"/>
              </a:ext>
            </a:extLst>
          </p:cNvPr>
          <p:cNvSpPr txBox="1"/>
          <p:nvPr/>
        </p:nvSpPr>
        <p:spPr>
          <a:xfrm>
            <a:off x="1397000" y="2286000"/>
            <a:ext cx="9906000" cy="76944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rial" panose="020B0604020202020204" pitchFamily="34" charset="0"/>
              </a:rPr>
              <a:t>Smart Biometric Attendance &amp; Automated Payroll System</a:t>
            </a:r>
          </a:p>
          <a:p>
            <a:r>
              <a:rPr lang="en-US" sz="2200" b="1">
                <a:solidFill>
                  <a:srgbClr val="FFFFFF"/>
                </a:solidFill>
                <a:latin typeface="Arial" panose="020B0604020202020204" pitchFamily="34" charset="0"/>
              </a:rPr>
              <a:t>Executive Demonstration for Salon Leadership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721B30-D102-A020-5CDE-3AE5EE7CEEDF}"/>
              </a:ext>
            </a:extLst>
          </p:cNvPr>
          <p:cNvSpPr txBox="1"/>
          <p:nvPr/>
        </p:nvSpPr>
        <p:spPr>
          <a:xfrm>
            <a:off x="1397000" y="3556000"/>
            <a:ext cx="9906000" cy="95410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D2D2D2"/>
                </a:solidFill>
                <a:latin typeface="Arial" panose="020B0604020202020204" pitchFamily="34" charset="0"/>
              </a:rPr>
              <a:t>Target Deployment: Centrio (Waxing &amp; Nails), Ketkai, SM Downtown</a:t>
            </a:r>
          </a:p>
          <a:p>
            <a:r>
              <a:rPr lang="en-US" sz="1400">
                <a:solidFill>
                  <a:srgbClr val="D2D2D2"/>
                </a:solidFill>
                <a:latin typeface="Arial" panose="020B0604020202020204" pitchFamily="34" charset="0"/>
              </a:rPr>
              <a:t>Live Application URL: https://alrajj-legacy.vercel.app</a:t>
            </a:r>
          </a:p>
          <a:p>
            <a:r>
              <a:rPr lang="en-US" sz="1400">
                <a:solidFill>
                  <a:srgbClr val="D2D2D2"/>
                </a:solidFill>
                <a:latin typeface="Arial" panose="020B0604020202020204" pitchFamily="34" charset="0"/>
              </a:rPr>
              <a:t>Prepared for: Ms. Jehan Abedin, General Manager</a:t>
            </a:r>
          </a:p>
          <a:p>
            <a:r>
              <a:rPr lang="en-US" sz="1400">
                <a:solidFill>
                  <a:srgbClr val="D2D2D2"/>
                </a:solidFill>
                <a:latin typeface="Arial" panose="020B0604020202020204" pitchFamily="34" charset="0"/>
              </a:rPr>
              <a:t>Presentation Date: Tuesday Demo</a:t>
            </a:r>
          </a:p>
        </p:txBody>
      </p:sp>
    </p:spTree>
    <p:extLst>
      <p:ext uri="{BB962C8B-B14F-4D97-AF65-F5344CB8AC3E}">
        <p14:creationId xmlns:p14="http://schemas.microsoft.com/office/powerpoint/2010/main" val="3114771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DFC8A01-D379-E199-68FA-B3902533364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4B49DA-C9BB-48FB-B3D4-265B04166C91}"/>
              </a:ext>
            </a:extLst>
          </p:cNvPr>
          <p:cNvSpPr txBox="1"/>
          <p:nvPr/>
        </p:nvSpPr>
        <p:spPr>
          <a:xfrm>
            <a:off x="762000" y="508000"/>
            <a:ext cx="106680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600" b="1">
                <a:solidFill>
                  <a:srgbClr val="031134"/>
                </a:solidFill>
                <a:latin typeface="Arial" panose="020B0604020202020204" pitchFamily="34" charset="0"/>
              </a:rPr>
              <a:t>The Current Reality: The 2-Day Payroll Bottleneck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846036-9C11-46D7-2814-50EB102C1B4D}"/>
              </a:ext>
            </a:extLst>
          </p:cNvPr>
          <p:cNvSpPr/>
          <p:nvPr/>
        </p:nvSpPr>
        <p:spPr>
          <a:xfrm>
            <a:off x="762000" y="1397000"/>
            <a:ext cx="3302000" cy="457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ADA3D8-7037-C366-E8FA-1C582BAEEE5C}"/>
              </a:ext>
            </a:extLst>
          </p:cNvPr>
          <p:cNvSpPr txBox="1"/>
          <p:nvPr/>
        </p:nvSpPr>
        <p:spPr>
          <a:xfrm>
            <a:off x="952500" y="1587500"/>
            <a:ext cx="2921000" cy="229293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TIME CONSUMING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* Takes 2 whole working days per cutoff to compute hours by hand.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* HR spends 16+ hours per month cross-referencing raw timesheets.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* Delays payroll release and pulls management away from core salon operations.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247B28-8CAB-1F0B-6F3E-4302883EC811}"/>
              </a:ext>
            </a:extLst>
          </p:cNvPr>
          <p:cNvSpPr/>
          <p:nvPr/>
        </p:nvSpPr>
        <p:spPr>
          <a:xfrm>
            <a:off x="4445000" y="1397000"/>
            <a:ext cx="3302000" cy="457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8931F7-6351-A9FE-85AB-4CD59AEB7649}"/>
              </a:ext>
            </a:extLst>
          </p:cNvPr>
          <p:cNvSpPr txBox="1"/>
          <p:nvPr/>
        </p:nvSpPr>
        <p:spPr>
          <a:xfrm>
            <a:off x="4635500" y="1587500"/>
            <a:ext cx="2921000" cy="229293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PRONE TO ERRORS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* Manual math for:</a:t>
            </a: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  - 5-min grace periods</a:t>
            </a: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  - 10-min tardiness deductions</a:t>
            </a: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  - Overtime and Night Diffs</a:t>
            </a: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  - SSS, PhilHealth, Pag-IBIG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* Mathematical errors cause salary disputes and awkward payroll adjustments.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C2DCAE0-8898-F278-96A8-27D6C4FAE06F}"/>
              </a:ext>
            </a:extLst>
          </p:cNvPr>
          <p:cNvSpPr/>
          <p:nvPr/>
        </p:nvSpPr>
        <p:spPr>
          <a:xfrm>
            <a:off x="8128000" y="1397000"/>
            <a:ext cx="3302000" cy="457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390CD1-5421-9F4F-CD6E-C183898101FB}"/>
              </a:ext>
            </a:extLst>
          </p:cNvPr>
          <p:cNvSpPr txBox="1"/>
          <p:nvPr/>
        </p:nvSpPr>
        <p:spPr>
          <a:xfrm>
            <a:off x="8318500" y="1587500"/>
            <a:ext cx="2921000" cy="229293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SCATTERED RECORDS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* Biometric files scattered across USB sticks and loose Excel files.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* No automated tracking of missing OUT punches or shift anomalies.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* Habitual tardiness goes untracked without formal Notice to Explain (NTE) compliance.</a:t>
            </a:r>
          </a:p>
        </p:txBody>
      </p:sp>
    </p:spTree>
    <p:extLst>
      <p:ext uri="{BB962C8B-B14F-4D97-AF65-F5344CB8AC3E}">
        <p14:creationId xmlns:p14="http://schemas.microsoft.com/office/powerpoint/2010/main" val="5003143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460AF4-66C8-969D-41F3-1FB16A8EC2C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311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890963-EF4D-237B-622C-02B319BF35A7}"/>
              </a:ext>
            </a:extLst>
          </p:cNvPr>
          <p:cNvSpPr txBox="1"/>
          <p:nvPr/>
        </p:nvSpPr>
        <p:spPr>
          <a:xfrm>
            <a:off x="762000" y="508000"/>
            <a:ext cx="106680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600" b="1">
                <a:solidFill>
                  <a:srgbClr val="D4AF37"/>
                </a:solidFill>
                <a:latin typeface="Arial" panose="020B0604020202020204" pitchFamily="34" charset="0"/>
              </a:rPr>
              <a:t>The Solution: Custom Smart Biometric HRMS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AFC518-19E1-D752-A31B-FB49D2FBA943}"/>
              </a:ext>
            </a:extLst>
          </p:cNvPr>
          <p:cNvSpPr txBox="1"/>
          <p:nvPr/>
        </p:nvSpPr>
        <p:spPr>
          <a:xfrm>
            <a:off x="762000" y="1143000"/>
            <a:ext cx="106680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500">
                <a:solidFill>
                  <a:srgbClr val="FFFFFF"/>
                </a:solidFill>
                <a:latin typeface="Arial" panose="020B0604020202020204" pitchFamily="34" charset="0"/>
              </a:rPr>
              <a:t>Transforms 2 Days of Manual Math into a 5-Minute Automated Workflow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E8836A-54FB-AF2F-3764-FD99B451151B}"/>
              </a:ext>
            </a:extLst>
          </p:cNvPr>
          <p:cNvSpPr/>
          <p:nvPr/>
        </p:nvSpPr>
        <p:spPr>
          <a:xfrm>
            <a:off x="762000" y="1778000"/>
            <a:ext cx="2476500" cy="4191000"/>
          </a:xfrm>
          <a:prstGeom prst="rect">
            <a:avLst/>
          </a:prstGeom>
          <a:solidFill>
            <a:srgbClr val="0F1E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4FEAFC-1EF0-02EF-1E77-96D90E17FBCC}"/>
              </a:ext>
            </a:extLst>
          </p:cNvPr>
          <p:cNvSpPr txBox="1"/>
          <p:nvPr/>
        </p:nvSpPr>
        <p:spPr>
          <a:xfrm>
            <a:off x="952500" y="1968500"/>
            <a:ext cx="2095500" cy="209288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1. NGTeco Ingestion</a:t>
            </a:r>
          </a:p>
          <a:p>
            <a:endParaRPr lang="en-US" sz="13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Drag and drop raw Excel files exported directly from your branch biometric clocks.</a:t>
            </a:r>
          </a:p>
          <a:p>
            <a:endParaRPr lang="en-US" sz="13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Instant automatic punch log recognition and shift pairing.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5CA138-7423-C0E4-8CE9-B8933A80F0F7}"/>
              </a:ext>
            </a:extLst>
          </p:cNvPr>
          <p:cNvSpPr/>
          <p:nvPr/>
        </p:nvSpPr>
        <p:spPr>
          <a:xfrm>
            <a:off x="3492500" y="1778000"/>
            <a:ext cx="2476500" cy="4191000"/>
          </a:xfrm>
          <a:prstGeom prst="rect">
            <a:avLst/>
          </a:prstGeom>
          <a:solidFill>
            <a:srgbClr val="0F1E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A7E13F-B1F9-81B7-BB38-1EBF7539DC1F}"/>
              </a:ext>
            </a:extLst>
          </p:cNvPr>
          <p:cNvSpPr txBox="1"/>
          <p:nvPr/>
        </p:nvSpPr>
        <p:spPr>
          <a:xfrm>
            <a:off x="3683000" y="1968500"/>
            <a:ext cx="2095500" cy="209288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2. Anomaly Engine</a:t>
            </a:r>
          </a:p>
          <a:p>
            <a:endParaRPr lang="en-US" sz="13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Automatically flags missed clock-outs, unpaired shifts, and late arrivals.</a:t>
            </a:r>
          </a:p>
          <a:p>
            <a:endParaRPr lang="en-US" sz="13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HR resolves exceptions in seconds with complete audit notes.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7B3407-8512-2138-5A04-1A69CFE9FB22}"/>
              </a:ext>
            </a:extLst>
          </p:cNvPr>
          <p:cNvSpPr/>
          <p:nvPr/>
        </p:nvSpPr>
        <p:spPr>
          <a:xfrm>
            <a:off x="6223000" y="1778000"/>
            <a:ext cx="2476500" cy="4191000"/>
          </a:xfrm>
          <a:prstGeom prst="rect">
            <a:avLst/>
          </a:prstGeom>
          <a:solidFill>
            <a:srgbClr val="0F1E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729143-74DC-507A-867C-6BEB64DD74E5}"/>
              </a:ext>
            </a:extLst>
          </p:cNvPr>
          <p:cNvSpPr txBox="1"/>
          <p:nvPr/>
        </p:nvSpPr>
        <p:spPr>
          <a:xfrm>
            <a:off x="6413500" y="1968500"/>
            <a:ext cx="2095500" cy="209288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3. Automated NTE</a:t>
            </a:r>
          </a:p>
          <a:p>
            <a:endParaRPr lang="en-US" sz="13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Enforces your 5-min grace and 10-min deduction rules.</a:t>
            </a:r>
          </a:p>
          <a:p>
            <a:endParaRPr lang="en-US" sz="13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Automatically detects 3+ late staff and generates ready-to-print Notice to Explain letters.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9DA8782-4AC2-549E-6945-92B60AEEBF51}"/>
              </a:ext>
            </a:extLst>
          </p:cNvPr>
          <p:cNvSpPr/>
          <p:nvPr/>
        </p:nvSpPr>
        <p:spPr>
          <a:xfrm>
            <a:off x="8953500" y="1778000"/>
            <a:ext cx="2476500" cy="4191000"/>
          </a:xfrm>
          <a:prstGeom prst="rect">
            <a:avLst/>
          </a:prstGeom>
          <a:solidFill>
            <a:srgbClr val="0F1E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B0400F-2430-0D59-7103-5F06E91458A1}"/>
              </a:ext>
            </a:extLst>
          </p:cNvPr>
          <p:cNvSpPr txBox="1"/>
          <p:nvPr/>
        </p:nvSpPr>
        <p:spPr>
          <a:xfrm>
            <a:off x="9144000" y="1968500"/>
            <a:ext cx="2095500" cy="209288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4. 1-Click Payroll</a:t>
            </a:r>
          </a:p>
          <a:p>
            <a:endParaRPr lang="en-US" sz="13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Computes Basic Pay, Overtime, Night Diff, SSS, PhilHealth, Pag-IBIG, and Net Pay.</a:t>
            </a:r>
          </a:p>
          <a:p>
            <a:endParaRPr lang="en-US" sz="13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Generates printable itemized payslips with your company logo.</a:t>
            </a:r>
          </a:p>
        </p:txBody>
      </p:sp>
    </p:spTree>
    <p:extLst>
      <p:ext uri="{BB962C8B-B14F-4D97-AF65-F5344CB8AC3E}">
        <p14:creationId xmlns:p14="http://schemas.microsoft.com/office/powerpoint/2010/main" val="2239120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8CD2BD7-E9DD-2A88-2FC9-F23B34193E2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D7B39C-7BDD-0DE6-1FEE-54A2933CE670}"/>
              </a:ext>
            </a:extLst>
          </p:cNvPr>
          <p:cNvSpPr txBox="1"/>
          <p:nvPr/>
        </p:nvSpPr>
        <p:spPr>
          <a:xfrm>
            <a:off x="762000" y="508000"/>
            <a:ext cx="106680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600" b="1">
                <a:solidFill>
                  <a:srgbClr val="031134"/>
                </a:solidFill>
                <a:latin typeface="Arial" panose="020B0604020202020204" pitchFamily="34" charset="0"/>
              </a:rPr>
              <a:t>One Centralized Hub for All Branch Operations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BBBFF1-8C25-CA7C-C838-8534361B1446}"/>
              </a:ext>
            </a:extLst>
          </p:cNvPr>
          <p:cNvSpPr/>
          <p:nvPr/>
        </p:nvSpPr>
        <p:spPr>
          <a:xfrm>
            <a:off x="762000" y="1397000"/>
            <a:ext cx="5016500" cy="457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F260FD-A64D-2309-A15C-6CD998F4D02B}"/>
              </a:ext>
            </a:extLst>
          </p:cNvPr>
          <p:cNvSpPr txBox="1"/>
          <p:nvPr/>
        </p:nvSpPr>
        <p:spPr>
          <a:xfrm>
            <a:off x="1016000" y="1587500"/>
            <a:ext cx="4508500" cy="30931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CURRENT ACTIVE LOCATIONS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1. Centrio Mall Branch</a:t>
            </a: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   - Waxing Salon operations</a:t>
            </a: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   - Passion Nails division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2. Limketkai Mall (Ketkai) Branch</a:t>
            </a: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   - Dedicated salon technicians and desk staff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3. SM Downtown Branch</a:t>
            </a: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   - High-traffic mall operations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*Future-Ready Architecture:*</a:t>
            </a: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Seamlessly accommodates new branches (such as Iligan) whenever ready without restructuring.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9F65F8-9F69-8D6B-DCAA-8A3B35590CBF}"/>
              </a:ext>
            </a:extLst>
          </p:cNvPr>
          <p:cNvSpPr/>
          <p:nvPr/>
        </p:nvSpPr>
        <p:spPr>
          <a:xfrm>
            <a:off x="6286500" y="1397000"/>
            <a:ext cx="5143500" cy="457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7FAC1C-AE9D-07D0-4396-BC82492A0E4E}"/>
              </a:ext>
            </a:extLst>
          </p:cNvPr>
          <p:cNvSpPr txBox="1"/>
          <p:nvPr/>
        </p:nvSpPr>
        <p:spPr>
          <a:xfrm>
            <a:off x="6540500" y="1587500"/>
            <a:ext cx="4635500" cy="28931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CLOUD CONVENIENCE &amp; VISIBILITY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* Accessible 24/7 at: https://alrajj-legacy.vercel.app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* No Software to Install:</a:t>
            </a: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  Runs smoothly on any browser (Chrome, Edge, Safari, Mobile).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* Executive Oversight:</a:t>
            </a: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  General Manager and HR can inspect real-time attendance, exceptions, and payroll figures from any device, anywhere.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* Bank-grade data handling and secure cloud backups.</a:t>
            </a:r>
          </a:p>
        </p:txBody>
      </p:sp>
    </p:spTree>
    <p:extLst>
      <p:ext uri="{BB962C8B-B14F-4D97-AF65-F5344CB8AC3E}">
        <p14:creationId xmlns:p14="http://schemas.microsoft.com/office/powerpoint/2010/main" val="5724150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8F2BC00-0440-9353-DC95-EBBCC1A879D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311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08FBCD-5D0F-3451-FD8A-626286763F30}"/>
              </a:ext>
            </a:extLst>
          </p:cNvPr>
          <p:cNvSpPr txBox="1"/>
          <p:nvPr/>
        </p:nvSpPr>
        <p:spPr>
          <a:xfrm>
            <a:off x="762000" y="508000"/>
            <a:ext cx="106680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600" b="1">
                <a:solidFill>
                  <a:srgbClr val="D4AF37"/>
                </a:solidFill>
                <a:latin typeface="Arial" panose="020B0604020202020204" pitchFamily="34" charset="0"/>
              </a:rPr>
              <a:t>The 5-Minute Live Demo Flow (For Tuesday)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7F75B6-FDBD-CBBC-7E9E-4A035B46C22B}"/>
              </a:ext>
            </a:extLst>
          </p:cNvPr>
          <p:cNvSpPr txBox="1"/>
          <p:nvPr/>
        </p:nvSpPr>
        <p:spPr>
          <a:xfrm>
            <a:off x="762000" y="1143000"/>
            <a:ext cx="1066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FFFFFF"/>
                </a:solidFill>
                <a:latin typeface="Arial" panose="020B0604020202020204" pitchFamily="34" charset="0"/>
              </a:rPr>
              <a:t>A crisp, simple narrative showing how raw time logs become finalized payslips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59CF5C-C758-3E10-2CBF-DEE2E3CB0CDE}"/>
              </a:ext>
            </a:extLst>
          </p:cNvPr>
          <p:cNvSpPr/>
          <p:nvPr/>
        </p:nvSpPr>
        <p:spPr>
          <a:xfrm>
            <a:off x="762000" y="1714500"/>
            <a:ext cx="2476500" cy="4381500"/>
          </a:xfrm>
          <a:prstGeom prst="rect">
            <a:avLst/>
          </a:prstGeom>
          <a:solidFill>
            <a:srgbClr val="0F1E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87E294-A558-D5A4-54B4-3B57A53ED840}"/>
              </a:ext>
            </a:extLst>
          </p:cNvPr>
          <p:cNvSpPr txBox="1"/>
          <p:nvPr/>
        </p:nvSpPr>
        <p:spPr>
          <a:xfrm>
            <a:off x="952500" y="1841500"/>
            <a:ext cx="2095500" cy="286232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STEP 1: EXECUTIVE PULSE</a:t>
            </a: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(1 Minute)</a:t>
            </a:r>
          </a:p>
          <a:p>
            <a:endParaRPr lang="en-US" sz="12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* Open alrajj-legacy.vercel.app</a:t>
            </a: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* Show the modern Dashboard</a:t>
            </a: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* Point out 4 Quick KPIs:</a:t>
            </a: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  - Active Staff</a:t>
            </a: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  - Late Minutes</a:t>
            </a: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  - Avg Shift Hours</a:t>
            </a: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  - Missed Out / Flags</a:t>
            </a: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* Point out the 88% Attendance Donut chart.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EE8ACB-193F-E6FD-BF1A-EEB1732BE1A4}"/>
              </a:ext>
            </a:extLst>
          </p:cNvPr>
          <p:cNvSpPr/>
          <p:nvPr/>
        </p:nvSpPr>
        <p:spPr>
          <a:xfrm>
            <a:off x="3492500" y="1714500"/>
            <a:ext cx="2476500" cy="4381500"/>
          </a:xfrm>
          <a:prstGeom prst="rect">
            <a:avLst/>
          </a:prstGeom>
          <a:solidFill>
            <a:srgbClr val="0F1E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1715FC-AE74-0505-32F7-65B05BCB174C}"/>
              </a:ext>
            </a:extLst>
          </p:cNvPr>
          <p:cNvSpPr txBox="1"/>
          <p:nvPr/>
        </p:nvSpPr>
        <p:spPr>
          <a:xfrm>
            <a:off x="3683000" y="1841500"/>
            <a:ext cx="2095500" cy="230832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STEP 2: BIOMETRIC UPLOAD</a:t>
            </a: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(1 Minute)</a:t>
            </a:r>
          </a:p>
          <a:p>
            <a:endParaRPr lang="en-US" sz="12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* Click 'Biometric Ingestion'</a:t>
            </a: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* Show the upload area for NGTeco Excel files.</a:t>
            </a: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* Explain: 'No manual data entry. The system ingests all raw punches and automatically matches employee shifts.'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754AEC-182B-2F06-B8E7-62295822E3A4}"/>
              </a:ext>
            </a:extLst>
          </p:cNvPr>
          <p:cNvSpPr/>
          <p:nvPr/>
        </p:nvSpPr>
        <p:spPr>
          <a:xfrm>
            <a:off x="6223000" y="1714500"/>
            <a:ext cx="2476500" cy="4381500"/>
          </a:xfrm>
          <a:prstGeom prst="rect">
            <a:avLst/>
          </a:prstGeom>
          <a:solidFill>
            <a:srgbClr val="0F1E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7FF70A-2999-918C-8A68-EBA3EC3B1C88}"/>
              </a:ext>
            </a:extLst>
          </p:cNvPr>
          <p:cNvSpPr txBox="1"/>
          <p:nvPr/>
        </p:nvSpPr>
        <p:spPr>
          <a:xfrm>
            <a:off x="6413500" y="1841500"/>
            <a:ext cx="2095500" cy="230832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STEP 3: EXCEPTIONS &amp; NTE</a:t>
            </a: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(1.5 Minutes)</a:t>
            </a:r>
          </a:p>
          <a:p>
            <a:endParaRPr lang="en-US" sz="12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* Click 'Exceptions &amp; Flags'</a:t>
            </a: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* Show how missing OUT punches are highlighted.</a:t>
            </a: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* Click 'Resolve' and adjust shift in 5 seconds.</a:t>
            </a: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* Click 'Tardiness &amp; NTE' to display auto-generated Notice to Explain letter.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AC50E6-A39A-A40C-7DD0-56F98A641BDA}"/>
              </a:ext>
            </a:extLst>
          </p:cNvPr>
          <p:cNvSpPr/>
          <p:nvPr/>
        </p:nvSpPr>
        <p:spPr>
          <a:xfrm>
            <a:off x="8953500" y="1714500"/>
            <a:ext cx="2476500" cy="4381500"/>
          </a:xfrm>
          <a:prstGeom prst="rect">
            <a:avLst/>
          </a:prstGeom>
          <a:solidFill>
            <a:srgbClr val="0F1E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F7A847-EFF2-1481-A110-7C376F9F52BB}"/>
              </a:ext>
            </a:extLst>
          </p:cNvPr>
          <p:cNvSpPr txBox="1"/>
          <p:nvPr/>
        </p:nvSpPr>
        <p:spPr>
          <a:xfrm>
            <a:off x="9144000" y="1841500"/>
            <a:ext cx="2095500" cy="249299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STEP 4: 1-CLICK PAYROLL</a:t>
            </a: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(1.5 Minutes)</a:t>
            </a:r>
          </a:p>
          <a:p>
            <a:endParaRPr lang="en-US" sz="12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* Click 'Accounting &amp; Payroll'</a:t>
            </a: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* Click 'Compute Payroll'</a:t>
            </a: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* Watch gross-to-net pay appear in 1 second.</a:t>
            </a:r>
          </a:p>
          <a:p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* Open an Itemized Payslip with ALRAJJ LEGACY header, ready to print or PDF.</a:t>
            </a:r>
          </a:p>
        </p:txBody>
      </p:sp>
    </p:spTree>
    <p:extLst>
      <p:ext uri="{BB962C8B-B14F-4D97-AF65-F5344CB8AC3E}">
        <p14:creationId xmlns:p14="http://schemas.microsoft.com/office/powerpoint/2010/main" val="5101073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62DF7A5-00E5-CCA6-FB75-FB538CD71B0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78EFFA-0EB0-C91C-2618-37DC9E198E3F}"/>
              </a:ext>
            </a:extLst>
          </p:cNvPr>
          <p:cNvSpPr txBox="1"/>
          <p:nvPr/>
        </p:nvSpPr>
        <p:spPr>
          <a:xfrm>
            <a:off x="762000" y="508000"/>
            <a:ext cx="106680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600" b="1">
                <a:solidFill>
                  <a:srgbClr val="031134"/>
                </a:solidFill>
                <a:latin typeface="Arial" panose="020B0604020202020204" pitchFamily="34" charset="0"/>
              </a:rPr>
              <a:t>Tangible Business Value &amp; ROI for Leadership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599D71-6AB6-05F7-A3A9-57F911DE1E97}"/>
              </a:ext>
            </a:extLst>
          </p:cNvPr>
          <p:cNvSpPr/>
          <p:nvPr/>
        </p:nvSpPr>
        <p:spPr>
          <a:xfrm>
            <a:off x="762000" y="1397000"/>
            <a:ext cx="5016500" cy="203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3A629A-0EF7-99DF-BA6A-7883D3A31A87}"/>
              </a:ext>
            </a:extLst>
          </p:cNvPr>
          <p:cNvSpPr txBox="1"/>
          <p:nvPr/>
        </p:nvSpPr>
        <p:spPr>
          <a:xfrm>
            <a:off x="1016000" y="1524000"/>
            <a:ext cx="4508500" cy="109260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95% TIME REDUCTION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Cuts payroll computation from 16 hours (2 working days) down to just 5 minutes per cutoff.</a:t>
            </a: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Saves over 380 management hours annually.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9B4879-E8B8-183B-A57F-9E015062A0B7}"/>
              </a:ext>
            </a:extLst>
          </p:cNvPr>
          <p:cNvSpPr/>
          <p:nvPr/>
        </p:nvSpPr>
        <p:spPr>
          <a:xfrm>
            <a:off x="6286500" y="1397000"/>
            <a:ext cx="5143500" cy="203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228851-50CB-8EAC-E78E-1E66692AC1A1}"/>
              </a:ext>
            </a:extLst>
          </p:cNvPr>
          <p:cNvSpPr txBox="1"/>
          <p:nvPr/>
        </p:nvSpPr>
        <p:spPr>
          <a:xfrm>
            <a:off x="6540500" y="1524000"/>
            <a:ext cx="4635500" cy="109260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ZERO MATHEMATICAL ERRORS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Standardized, automated deductions eliminate over/under-payments, tax mismatches, and employee compensation grievances.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B69F7F-2F54-79B8-39CE-C1BC731348C3}"/>
              </a:ext>
            </a:extLst>
          </p:cNvPr>
          <p:cNvSpPr/>
          <p:nvPr/>
        </p:nvSpPr>
        <p:spPr>
          <a:xfrm>
            <a:off x="762000" y="3683000"/>
            <a:ext cx="5016500" cy="2159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5B44B5-F4E6-8E90-399E-B1116562B62A}"/>
              </a:ext>
            </a:extLst>
          </p:cNvPr>
          <p:cNvSpPr txBox="1"/>
          <p:nvPr/>
        </p:nvSpPr>
        <p:spPr>
          <a:xfrm>
            <a:off x="1016000" y="3810000"/>
            <a:ext cx="4508500" cy="109260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LABOR COMPLIANCE PROTECTION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Automatic tracking of habitual tardiness with generated 5-day Notice to Explain (NTE) documents protects the company with strict DOLE compliance.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E70F929-FD0B-B668-1235-975117E125B9}"/>
              </a:ext>
            </a:extLst>
          </p:cNvPr>
          <p:cNvSpPr/>
          <p:nvPr/>
        </p:nvSpPr>
        <p:spPr>
          <a:xfrm>
            <a:off x="6286500" y="3683000"/>
            <a:ext cx="5143500" cy="2159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EAFB06-8546-4494-D335-DE0D40577E0E}"/>
              </a:ext>
            </a:extLst>
          </p:cNvPr>
          <p:cNvSpPr txBox="1"/>
          <p:nvPr/>
        </p:nvSpPr>
        <p:spPr>
          <a:xfrm>
            <a:off x="6540500" y="3810000"/>
            <a:ext cx="4635500" cy="109260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FULL EXECUTIVE TRANSPARENCY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General Manager can review branch attendance health, overtime spend, and branch performance in real time from any smartphone or laptop.</a:t>
            </a:r>
          </a:p>
        </p:txBody>
      </p:sp>
    </p:spTree>
    <p:extLst>
      <p:ext uri="{BB962C8B-B14F-4D97-AF65-F5344CB8AC3E}">
        <p14:creationId xmlns:p14="http://schemas.microsoft.com/office/powerpoint/2010/main" val="2277547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CDA2D33-89A5-3ED7-7E34-FEB8F4079D4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311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814663-CC3F-E60A-E026-C780F5781540}"/>
              </a:ext>
            </a:extLst>
          </p:cNvPr>
          <p:cNvSpPr txBox="1"/>
          <p:nvPr/>
        </p:nvSpPr>
        <p:spPr>
          <a:xfrm>
            <a:off x="762000" y="508000"/>
            <a:ext cx="106680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600" b="1">
                <a:solidFill>
                  <a:srgbClr val="D4AF37"/>
                </a:solidFill>
                <a:latin typeface="Arial" panose="020B0604020202020204" pitchFamily="34" charset="0"/>
              </a:rPr>
              <a:t>Implementation Roadmap &amp; Next Steps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BE679C-E3B3-AEB3-2A22-BD444ED640E4}"/>
              </a:ext>
            </a:extLst>
          </p:cNvPr>
          <p:cNvSpPr/>
          <p:nvPr/>
        </p:nvSpPr>
        <p:spPr>
          <a:xfrm>
            <a:off x="762000" y="1397000"/>
            <a:ext cx="6223000" cy="4572000"/>
          </a:xfrm>
          <a:prstGeom prst="rect">
            <a:avLst/>
          </a:prstGeom>
          <a:solidFill>
            <a:srgbClr val="0F1E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CFAD88-4475-F81E-C6BE-1B9D27C34648}"/>
              </a:ext>
            </a:extLst>
          </p:cNvPr>
          <p:cNvSpPr txBox="1"/>
          <p:nvPr/>
        </p:nvSpPr>
        <p:spPr>
          <a:xfrm>
            <a:off x="1016000" y="1587500"/>
            <a:ext cx="5715000" cy="269304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MILESTONE ROADMAP</a:t>
            </a:r>
          </a:p>
          <a:p>
            <a:endParaRPr lang="en-US" sz="13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* Milestone 1: Core System &amp; UI (COMPLETE &amp; LIVE)</a:t>
            </a:r>
          </a:p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  - Live at https://alrajj-legacy.vercel.app</a:t>
            </a:r>
          </a:p>
          <a:p>
            <a:endParaRPr lang="en-US" sz="13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* Milestone 2: User Acceptance Testing (UAT)</a:t>
            </a:r>
          </a:p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  - Test with actual NGTeco logs from Centrio, Ketkai, SM Downtown</a:t>
            </a:r>
          </a:p>
          <a:p>
            <a:endParaRPr lang="en-US" sz="13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* Milestone 3: Live Hand-off &amp; Staff Training</a:t>
            </a:r>
          </a:p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  - Quick 30-min onboarding for HR team</a:t>
            </a:r>
          </a:p>
          <a:p>
            <a:endParaRPr lang="en-US" sz="1300">
              <a:solidFill>
                <a:srgbClr val="FFFFFF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* Full 12 Months Support: FREE comprehensive maintenance</a:t>
            </a:r>
          </a:p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* Year 2+: Highly affordable PHP 1,500/mo cloud retainer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22A46A-ED8E-5292-F440-CDAEBE47464D}"/>
              </a:ext>
            </a:extLst>
          </p:cNvPr>
          <p:cNvSpPr/>
          <p:nvPr/>
        </p:nvSpPr>
        <p:spPr>
          <a:xfrm>
            <a:off x="7302500" y="1397000"/>
            <a:ext cx="4127500" cy="457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E6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BDABF1-67D1-E96D-A397-A21FE500BA5A}"/>
              </a:ext>
            </a:extLst>
          </p:cNvPr>
          <p:cNvSpPr txBox="1"/>
          <p:nvPr/>
        </p:nvSpPr>
        <p:spPr>
          <a:xfrm>
            <a:off x="7556500" y="1587500"/>
            <a:ext cx="3619500" cy="30931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READY FOR TUESDAY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Immediate Action Items: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1. Gather 1 actual biometric export from each of the 3 branches.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2. Conduct the 5-minute live demo on alrajj-legacy.vercel.app.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3. Sign off on UAT schedule.</a:t>
            </a: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endParaRPr lang="en-US" sz="1300">
              <a:solidFill>
                <a:srgbClr val="1E293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Thank you!</a:t>
            </a:r>
          </a:p>
          <a:p>
            <a:r>
              <a:rPr lang="en-US" sz="1300">
                <a:solidFill>
                  <a:srgbClr val="1E293B"/>
                </a:solidFill>
                <a:latin typeface="Arial" panose="020B0604020202020204" pitchFamily="34" charset="0"/>
              </a:rPr>
              <a:t>ALRAJJ LEGACY Fortified Business Corp.</a:t>
            </a:r>
          </a:p>
        </p:txBody>
      </p:sp>
    </p:spTree>
    <p:extLst>
      <p:ext uri="{BB962C8B-B14F-4D97-AF65-F5344CB8AC3E}">
        <p14:creationId xmlns:p14="http://schemas.microsoft.com/office/powerpoint/2010/main" val="4165688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927</Words>
  <Application>Microsoft Office PowerPoint</Application>
  <PresentationFormat>Custom</PresentationFormat>
  <Paragraphs>153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1</cp:revision>
  <dcterms:created xsi:type="dcterms:W3CDTF">2026-09-04T15:23:38Z</dcterms:created>
  <dcterms:modified xsi:type="dcterms:W3CDTF">2026-09-04T15:23:38Z</dcterms:modified>
</cp:coreProperties>
</file>